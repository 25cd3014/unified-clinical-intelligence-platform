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12192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Hedvig Letters Sans" panose="020B0604020202020204" charset="0"/>
      <p:regular r:id="rId20"/>
    </p:embeddedFont>
    <p:embeddedFont>
      <p:font typeface="Liter" panose="020B0604020202020204" charset="0"/>
      <p:regular r:id="rId21"/>
    </p:embeddedFont>
    <p:embeddedFont>
      <p:font typeface="Quattrocento Sans" panose="020B0502050000020003" pitchFamily="34" charset="0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119921-0401-4597-98A6-D13B558FBD58}" v="18" dt="2026-01-08T13:58:11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n Sharma" userId="19cb6a7ceb592709" providerId="LiveId" clId="{A4A6508D-5519-46A9-A7C8-7E39BD626C9C}"/>
    <pc:docChg chg="undo custSel addSld modSld">
      <pc:chgData name="Karan Sharma" userId="19cb6a7ceb592709" providerId="LiveId" clId="{A4A6508D-5519-46A9-A7C8-7E39BD626C9C}" dt="2026-01-08T14:15:20.270" v="272" actId="20577"/>
      <pc:docMkLst>
        <pc:docMk/>
      </pc:docMkLst>
      <pc:sldChg chg="addSp delSp modSp mod">
        <pc:chgData name="Karan Sharma" userId="19cb6a7ceb592709" providerId="LiveId" clId="{A4A6508D-5519-46A9-A7C8-7E39BD626C9C}" dt="2026-01-08T14:15:20.270" v="272" actId="20577"/>
        <pc:sldMkLst>
          <pc:docMk/>
          <pc:sldMk cId="0" sldId="256"/>
        </pc:sldMkLst>
        <pc:spChg chg="del mod">
          <ac:chgData name="Karan Sharma" userId="19cb6a7ceb592709" providerId="LiveId" clId="{A4A6508D-5519-46A9-A7C8-7E39BD626C9C}" dt="2026-01-08T13:23:30.330" v="7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4:07.614" v="75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6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8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3:59.731" v="7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11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12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14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15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41.789" v="60" actId="122"/>
          <ac:spMkLst>
            <pc:docMk/>
            <pc:sldMk cId="0" sldId="256"/>
            <ac:spMk id="16" creationId="{00000000-0000-0000-0000-000000000000}"/>
          </ac:spMkLst>
        </pc:spChg>
        <pc:spChg chg="add mod">
          <ac:chgData name="Karan Sharma" userId="19cb6a7ceb592709" providerId="LiveId" clId="{A4A6508D-5519-46A9-A7C8-7E39BD626C9C}" dt="2026-01-08T14:15:20.270" v="272" actId="20577"/>
          <ac:spMkLst>
            <pc:docMk/>
            <pc:sldMk cId="0" sldId="256"/>
            <ac:spMk id="20" creationId="{66C9EB44-BAA3-BD8E-D64D-1A5D87B77CE8}"/>
          </ac:spMkLst>
        </pc:spChg>
        <pc:picChg chg="mod">
          <ac:chgData name="Karan Sharma" userId="19cb6a7ceb592709" providerId="LiveId" clId="{A4A6508D-5519-46A9-A7C8-7E39BD626C9C}" dt="2026-01-08T13:23:35.404" v="72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Karan Sharma" userId="19cb6a7ceb592709" providerId="LiveId" clId="{A4A6508D-5519-46A9-A7C8-7E39BD626C9C}" dt="2026-01-08T13:27:46.998" v="139" actId="1076"/>
        <pc:sldMkLst>
          <pc:docMk/>
          <pc:sldMk cId="0" sldId="257"/>
        </pc:sldMkLst>
        <pc:spChg chg="mod">
          <ac:chgData name="Karan Sharma" userId="19cb6a7ceb592709" providerId="LiveId" clId="{A4A6508D-5519-46A9-A7C8-7E39BD626C9C}" dt="2026-01-08T13:25:18.030" v="101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6:14.231" v="117" actId="10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5:39.322" v="107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6:50.931" v="124" actId="103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6:41.392" v="119" actId="403"/>
          <ac:spMkLst>
            <pc:docMk/>
            <pc:sldMk cId="0" sldId="257"/>
            <ac:spMk id="24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7:12.281" v="134" actId="1035"/>
          <ac:spMkLst>
            <pc:docMk/>
            <pc:sldMk cId="0" sldId="257"/>
            <ac:spMk id="29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7:35.226" v="137" actId="404"/>
          <ac:spMkLst>
            <pc:docMk/>
            <pc:sldMk cId="0" sldId="257"/>
            <ac:spMk id="30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7:46.998" v="139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22:16.277" v="58" actId="20577"/>
          <ac:spMkLst>
            <pc:docMk/>
            <pc:sldMk cId="0" sldId="257"/>
            <ac:spMk id="32" creationId="{00000000-0000-0000-0000-000000000000}"/>
          </ac:spMkLst>
        </pc:spChg>
      </pc:sldChg>
      <pc:sldChg chg="modSp mod">
        <pc:chgData name="Karan Sharma" userId="19cb6a7ceb592709" providerId="LiveId" clId="{A4A6508D-5519-46A9-A7C8-7E39BD626C9C}" dt="2026-01-08T13:30:47.168" v="154" actId="1076"/>
        <pc:sldMkLst>
          <pc:docMk/>
          <pc:sldMk cId="0" sldId="258"/>
        </pc:sldMkLst>
        <pc:spChg chg="mod">
          <ac:chgData name="Karan Sharma" userId="19cb6a7ceb592709" providerId="LiveId" clId="{A4A6508D-5519-46A9-A7C8-7E39BD626C9C}" dt="2026-01-08T13:27:57.167" v="141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47.168" v="154" actId="1076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Karan Sharma" userId="19cb6a7ceb592709" providerId="LiveId" clId="{A4A6508D-5519-46A9-A7C8-7E39BD626C9C}" dt="2026-01-08T13:30:34.716" v="152" actId="403"/>
        <pc:sldMkLst>
          <pc:docMk/>
          <pc:sldMk cId="0" sldId="259"/>
        </pc:sldMkLst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192" v="151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29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32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33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37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38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58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0:34.716" v="152" actId="403"/>
          <ac:spMkLst>
            <pc:docMk/>
            <pc:sldMk cId="0" sldId="259"/>
            <ac:spMk id="61" creationId="{00000000-0000-0000-0000-000000000000}"/>
          </ac:spMkLst>
        </pc:spChg>
      </pc:sldChg>
      <pc:sldChg chg="delSp modSp mod">
        <pc:chgData name="Karan Sharma" userId="19cb6a7ceb592709" providerId="LiveId" clId="{A4A6508D-5519-46A9-A7C8-7E39BD626C9C}" dt="2026-01-08T13:59:35.902" v="257" actId="113"/>
        <pc:sldMkLst>
          <pc:docMk/>
          <pc:sldMk cId="0" sldId="265"/>
        </pc:sldMkLst>
        <pc:spChg chg="del">
          <ac:chgData name="Karan Sharma" userId="19cb6a7ceb592709" providerId="LiveId" clId="{A4A6508D-5519-46A9-A7C8-7E39BD626C9C}" dt="2026-01-08T13:59:01.307" v="253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59:35.902" v="257" actId="113"/>
          <ac:spMkLst>
            <pc:docMk/>
            <pc:sldMk cId="0" sldId="265"/>
            <ac:spMk id="8" creationId="{00000000-0000-0000-0000-000000000000}"/>
          </ac:spMkLst>
        </pc:spChg>
        <pc:spChg chg="mod">
          <ac:chgData name="Karan Sharma" userId="19cb6a7ceb592709" providerId="LiveId" clId="{A4A6508D-5519-46A9-A7C8-7E39BD626C9C}" dt="2026-01-08T13:32:59.327" v="168" actId="6549"/>
          <ac:spMkLst>
            <pc:docMk/>
            <pc:sldMk cId="0" sldId="265"/>
            <ac:spMk id="25" creationId="{00000000-0000-0000-0000-000000000000}"/>
          </ac:spMkLst>
        </pc:spChg>
      </pc:sldChg>
      <pc:sldChg chg="addSp delSp modSp new mod setBg delDesignElem">
        <pc:chgData name="Karan Sharma" userId="19cb6a7ceb592709" providerId="LiveId" clId="{A4A6508D-5519-46A9-A7C8-7E39BD626C9C}" dt="2026-01-08T13:58:17.341" v="249" actId="1076"/>
        <pc:sldMkLst>
          <pc:docMk/>
          <pc:sldMk cId="2872597239" sldId="266"/>
        </pc:sldMkLst>
        <pc:spChg chg="add mod">
          <ac:chgData name="Karan Sharma" userId="19cb6a7ceb592709" providerId="LiveId" clId="{A4A6508D-5519-46A9-A7C8-7E39BD626C9C}" dt="2026-01-08T13:32:01.275" v="155"/>
          <ac:spMkLst>
            <pc:docMk/>
            <pc:sldMk cId="2872597239" sldId="266"/>
            <ac:spMk id="4" creationId="{F320D785-DFA2-9FB0-79BB-A65931FE0F25}"/>
          </ac:spMkLst>
        </pc:spChg>
        <pc:spChg chg="add del">
          <ac:chgData name="Karan Sharma" userId="19cb6a7ceb592709" providerId="LiveId" clId="{A4A6508D-5519-46A9-A7C8-7E39BD626C9C}" dt="2026-01-08T13:11:50.633" v="7" actId="26606"/>
          <ac:spMkLst>
            <pc:docMk/>
            <pc:sldMk cId="2872597239" sldId="266"/>
            <ac:spMk id="5" creationId="{F3060C83-F051-4F0E-ABAD-AA0DFC48B218}"/>
          </ac:spMkLst>
        </pc:spChg>
        <pc:spChg chg="add mod">
          <ac:chgData name="Karan Sharma" userId="19cb6a7ceb592709" providerId="LiveId" clId="{A4A6508D-5519-46A9-A7C8-7E39BD626C9C}" dt="2026-01-08T13:54:32.299" v="213" actId="207"/>
          <ac:spMkLst>
            <pc:docMk/>
            <pc:sldMk cId="2872597239" sldId="266"/>
            <ac:spMk id="6" creationId="{95C4B122-1EA7-5044-F4A0-13C0170C17B1}"/>
          </ac:spMkLst>
        </pc:spChg>
        <pc:spChg chg="add mod">
          <ac:chgData name="Karan Sharma" userId="19cb6a7ceb592709" providerId="LiveId" clId="{A4A6508D-5519-46A9-A7C8-7E39BD626C9C}" dt="2026-01-08T13:55:01.886" v="214" actId="1076"/>
          <ac:spMkLst>
            <pc:docMk/>
            <pc:sldMk cId="2872597239" sldId="266"/>
            <ac:spMk id="7" creationId="{C2D0EA61-9068-B886-2940-42E0EEA47B31}"/>
          </ac:spMkLst>
        </pc:spChg>
        <pc:spChg chg="add del">
          <ac:chgData name="Karan Sharma" userId="19cb6a7ceb592709" providerId="LiveId" clId="{A4A6508D-5519-46A9-A7C8-7E39BD626C9C}" dt="2026-01-08T13:11:43.783" v="3" actId="26606"/>
          <ac:spMkLst>
            <pc:docMk/>
            <pc:sldMk cId="2872597239" sldId="266"/>
            <ac:spMk id="8" creationId="{42A4FC2C-047E-45A5-965D-8E1E3BF09BC6}"/>
          </ac:spMkLst>
        </pc:spChg>
        <pc:spChg chg="add del">
          <ac:chgData name="Karan Sharma" userId="19cb6a7ceb592709" providerId="LiveId" clId="{A4A6508D-5519-46A9-A7C8-7E39BD626C9C}" dt="2026-01-08T13:11:50.633" v="7" actId="26606"/>
          <ac:spMkLst>
            <pc:docMk/>
            <pc:sldMk cId="2872597239" sldId="266"/>
            <ac:spMk id="10" creationId="{83C98ABE-055B-441F-B07E-44F97F083C39}"/>
          </ac:spMkLst>
        </pc:spChg>
        <pc:spChg chg="add mod">
          <ac:chgData name="Karan Sharma" userId="19cb6a7ceb592709" providerId="LiveId" clId="{A4A6508D-5519-46A9-A7C8-7E39BD626C9C}" dt="2026-01-08T13:52:32.517" v="193" actId="207"/>
          <ac:spMkLst>
            <pc:docMk/>
            <pc:sldMk cId="2872597239" sldId="266"/>
            <ac:spMk id="11" creationId="{CC6EF0A7-2796-6BDA-2435-7ACD2F4666A1}"/>
          </ac:spMkLst>
        </pc:spChg>
        <pc:spChg chg="add del">
          <ac:chgData name="Karan Sharma" userId="19cb6a7ceb592709" providerId="LiveId" clId="{A4A6508D-5519-46A9-A7C8-7E39BD626C9C}" dt="2026-01-08T13:11:50.633" v="7" actId="26606"/>
          <ac:spMkLst>
            <pc:docMk/>
            <pc:sldMk cId="2872597239" sldId="266"/>
            <ac:spMk id="12" creationId="{29FDB030-9B49-4CED-8CCD-4D99382388AC}"/>
          </ac:spMkLst>
        </pc:spChg>
        <pc:spChg chg="add mod">
          <ac:chgData name="Karan Sharma" userId="19cb6a7ceb592709" providerId="LiveId" clId="{A4A6508D-5519-46A9-A7C8-7E39BD626C9C}" dt="2026-01-08T13:52:12.207" v="192" actId="571"/>
          <ac:spMkLst>
            <pc:docMk/>
            <pc:sldMk cId="2872597239" sldId="266"/>
            <ac:spMk id="13" creationId="{6AC457E5-95CB-237E-A5CF-A11914D302FD}"/>
          </ac:spMkLst>
        </pc:spChg>
        <pc:spChg chg="add del">
          <ac:chgData name="Karan Sharma" userId="19cb6a7ceb592709" providerId="LiveId" clId="{A4A6508D-5519-46A9-A7C8-7E39BD626C9C}" dt="2026-01-08T13:11:50.633" v="7" actId="26606"/>
          <ac:spMkLst>
            <pc:docMk/>
            <pc:sldMk cId="2872597239" sldId="266"/>
            <ac:spMk id="14" creationId="{3783CA14-24A1-485C-8B30-D6A5D87987AD}"/>
          </ac:spMkLst>
        </pc:spChg>
        <pc:spChg chg="add del">
          <ac:chgData name="Karan Sharma" userId="19cb6a7ceb592709" providerId="LiveId" clId="{A4A6508D-5519-46A9-A7C8-7E39BD626C9C}" dt="2026-01-08T13:11:50.633" v="7" actId="26606"/>
          <ac:spMkLst>
            <pc:docMk/>
            <pc:sldMk cId="2872597239" sldId="266"/>
            <ac:spMk id="16" creationId="{9A97C86A-04D6-40F7-AE84-31AB43E6A846}"/>
          </ac:spMkLst>
        </pc:spChg>
        <pc:spChg chg="add del">
          <ac:chgData name="Karan Sharma" userId="19cb6a7ceb592709" providerId="LiveId" clId="{A4A6508D-5519-46A9-A7C8-7E39BD626C9C}" dt="2026-01-08T13:11:50.633" v="7" actId="26606"/>
          <ac:spMkLst>
            <pc:docMk/>
            <pc:sldMk cId="2872597239" sldId="266"/>
            <ac:spMk id="18" creationId="{FF9F2414-84E8-453E-B1F3-389FDE8192D9}"/>
          </ac:spMkLst>
        </pc:spChg>
        <pc:spChg chg="add mod">
          <ac:chgData name="Karan Sharma" userId="19cb6a7ceb592709" providerId="LiveId" clId="{A4A6508D-5519-46A9-A7C8-7E39BD626C9C}" dt="2026-01-08T13:58:17.341" v="249" actId="1076"/>
          <ac:spMkLst>
            <pc:docMk/>
            <pc:sldMk cId="2872597239" sldId="266"/>
            <ac:spMk id="19" creationId="{F0988B50-C7D4-CE11-DA01-C3B0D22278DB}"/>
          </ac:spMkLst>
        </pc:spChg>
        <pc:spChg chg="add del">
          <ac:chgData name="Karan Sharma" userId="19cb6a7ceb592709" providerId="LiveId" clId="{A4A6508D-5519-46A9-A7C8-7E39BD626C9C}" dt="2026-01-08T13:11:50.633" v="7" actId="26606"/>
          <ac:spMkLst>
            <pc:docMk/>
            <pc:sldMk cId="2872597239" sldId="266"/>
            <ac:spMk id="20" creationId="{3ECA69A1-7536-43AC-85EF-C7106179F5ED}"/>
          </ac:spMkLst>
        </pc:spChg>
        <pc:spChg chg="add del">
          <ac:chgData name="Karan Sharma" userId="19cb6a7ceb592709" providerId="LiveId" clId="{A4A6508D-5519-46A9-A7C8-7E39BD626C9C}" dt="2026-01-08T13:11:52.782" v="9" actId="26606"/>
          <ac:spMkLst>
            <pc:docMk/>
            <pc:sldMk cId="2872597239" sldId="266"/>
            <ac:spMk id="22" creationId="{3DAD86CA-8235-409B-982B-5E7A033E2392}"/>
          </ac:spMkLst>
        </pc:spChg>
        <pc:spChg chg="add del">
          <ac:chgData name="Karan Sharma" userId="19cb6a7ceb592709" providerId="LiveId" clId="{A4A6508D-5519-46A9-A7C8-7E39BD626C9C}" dt="2026-01-08T13:11:52.782" v="9" actId="26606"/>
          <ac:spMkLst>
            <pc:docMk/>
            <pc:sldMk cId="2872597239" sldId="266"/>
            <ac:spMk id="23" creationId="{9F234FBA-3501-47B4-AE0C-AA4AFBC8F603}"/>
          </ac:spMkLst>
        </pc:spChg>
        <pc:spChg chg="add del">
          <ac:chgData name="Karan Sharma" userId="19cb6a7ceb592709" providerId="LiveId" clId="{A4A6508D-5519-46A9-A7C8-7E39BD626C9C}" dt="2026-01-08T13:11:52.782" v="9" actId="26606"/>
          <ac:spMkLst>
            <pc:docMk/>
            <pc:sldMk cId="2872597239" sldId="266"/>
            <ac:spMk id="24" creationId="{B5EF893B-0491-416E-9D33-BADE9600792A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2872597239" sldId="266"/>
            <ac:spMk id="27" creationId="{AB8C311F-7253-4AED-9701-7FC0708C41C7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2872597239" sldId="266"/>
            <ac:spMk id="28" creationId="{E2384209-CB15-4CDF-9D31-C44FD9A3F20D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2872597239" sldId="266"/>
            <ac:spMk id="29" creationId="{2633B3B5-CC90-43F0-8714-D31D1F3F0209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2872597239" sldId="266"/>
            <ac:spMk id="30" creationId="{A8D57A06-A426-446D-B02C-A2DC6B62E45E}"/>
          </ac:spMkLst>
        </pc:spChg>
        <pc:picChg chg="add mod">
          <ac:chgData name="Karan Sharma" userId="19cb6a7ceb592709" providerId="LiveId" clId="{A4A6508D-5519-46A9-A7C8-7E39BD626C9C}" dt="2026-01-08T13:11:52.791" v="10" actId="26606"/>
          <ac:picMkLst>
            <pc:docMk/>
            <pc:sldMk cId="2872597239" sldId="266"/>
            <ac:picMk id="3" creationId="{96761305-1688-9F99-20AD-7A27EC46B87B}"/>
          </ac:picMkLst>
        </pc:picChg>
        <pc:picChg chg="add del mod ord">
          <ac:chgData name="Karan Sharma" userId="19cb6a7ceb592709" providerId="LiveId" clId="{A4A6508D-5519-46A9-A7C8-7E39BD626C9C}" dt="2026-01-08T13:55:14.662" v="216" actId="478"/>
          <ac:picMkLst>
            <pc:docMk/>
            <pc:sldMk cId="2872597239" sldId="266"/>
            <ac:picMk id="15" creationId="{5EB947AC-D323-4E12-D4BF-3EA6897099B9}"/>
          </ac:picMkLst>
        </pc:picChg>
        <pc:picChg chg="add mod">
          <ac:chgData name="Karan Sharma" userId="19cb6a7ceb592709" providerId="LiveId" clId="{A4A6508D-5519-46A9-A7C8-7E39BD626C9C}" dt="2026-01-08T13:53:40.435" v="205" actId="1076"/>
          <ac:picMkLst>
            <pc:docMk/>
            <pc:sldMk cId="2872597239" sldId="266"/>
            <ac:picMk id="17" creationId="{116ACDDE-A64F-9D63-36CC-ACB077C4CA77}"/>
          </ac:picMkLst>
        </pc:picChg>
        <pc:cxnChg chg="add del">
          <ac:chgData name="Karan Sharma" userId="19cb6a7ceb592709" providerId="LiveId" clId="{A4A6508D-5519-46A9-A7C8-7E39BD626C9C}" dt="2026-01-08T13:11:52.782" v="9" actId="26606"/>
          <ac:cxnSpMkLst>
            <pc:docMk/>
            <pc:sldMk cId="2872597239" sldId="266"/>
            <ac:cxnSpMk id="25" creationId="{469F4FF8-F8B0-4630-BA1B-0D8B324CD5FF}"/>
          </ac:cxnSpMkLst>
        </pc:cxnChg>
      </pc:sldChg>
      <pc:sldChg chg="addSp delSp modSp new mod setBg delDesignElem">
        <pc:chgData name="Karan Sharma" userId="19cb6a7ceb592709" providerId="LiveId" clId="{A4A6508D-5519-46A9-A7C8-7E39BD626C9C}" dt="2026-01-08T13:58:39.661" v="252" actId="1076"/>
        <pc:sldMkLst>
          <pc:docMk/>
          <pc:sldMk cId="160147956" sldId="267"/>
        </pc:sldMkLst>
        <pc:spChg chg="add mod">
          <ac:chgData name="Karan Sharma" userId="19cb6a7ceb592709" providerId="LiveId" clId="{A4A6508D-5519-46A9-A7C8-7E39BD626C9C}" dt="2026-01-08T13:32:11.898" v="158"/>
          <ac:spMkLst>
            <pc:docMk/>
            <pc:sldMk cId="160147956" sldId="267"/>
            <ac:spMk id="4" creationId="{134BA5D7-2AD6-0768-3E3C-A9F439FA000B}"/>
          </ac:spMkLst>
        </pc:spChg>
        <pc:spChg chg="add mod">
          <ac:chgData name="Karan Sharma" userId="19cb6a7ceb592709" providerId="LiveId" clId="{A4A6508D-5519-46A9-A7C8-7E39BD626C9C}" dt="2026-01-08T13:32:17.250" v="162" actId="20577"/>
          <ac:spMkLst>
            <pc:docMk/>
            <pc:sldMk cId="160147956" sldId="267"/>
            <ac:spMk id="5" creationId="{4711ADD2-2F81-EB4E-4613-1DFDA12DC843}"/>
          </ac:spMkLst>
        </pc:spChg>
        <pc:spChg chg="add mod">
          <ac:chgData name="Karan Sharma" userId="19cb6a7ceb592709" providerId="LiveId" clId="{A4A6508D-5519-46A9-A7C8-7E39BD626C9C}" dt="2026-01-08T13:32:11.898" v="158"/>
          <ac:spMkLst>
            <pc:docMk/>
            <pc:sldMk cId="160147956" sldId="267"/>
            <ac:spMk id="6" creationId="{C19C7B4D-03CC-410D-8C10-2F716510E5DB}"/>
          </ac:spMkLst>
        </pc:spChg>
        <pc:spChg chg="add mod">
          <ac:chgData name="Karan Sharma" userId="19cb6a7ceb592709" providerId="LiveId" clId="{A4A6508D-5519-46A9-A7C8-7E39BD626C9C}" dt="2026-01-08T13:55:22.772" v="217"/>
          <ac:spMkLst>
            <pc:docMk/>
            <pc:sldMk cId="160147956" sldId="267"/>
            <ac:spMk id="7" creationId="{62FF1860-3EB4-41E0-DBBE-584C5C9E1C25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160147956" sldId="267"/>
            <ac:spMk id="8" creationId="{AB8C311F-7253-4AED-9701-7FC0708C41C7}"/>
          </ac:spMkLst>
        </pc:spChg>
        <pc:spChg chg="add mod">
          <ac:chgData name="Karan Sharma" userId="19cb6a7ceb592709" providerId="LiveId" clId="{A4A6508D-5519-46A9-A7C8-7E39BD626C9C}" dt="2026-01-08T13:55:22.772" v="217"/>
          <ac:spMkLst>
            <pc:docMk/>
            <pc:sldMk cId="160147956" sldId="267"/>
            <ac:spMk id="9" creationId="{48CBF73B-B990-0A09-77C1-3AA535379836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160147956" sldId="267"/>
            <ac:spMk id="10" creationId="{E2384209-CB15-4CDF-9D31-C44FD9A3F20D}"/>
          </ac:spMkLst>
        </pc:spChg>
        <pc:spChg chg="add mod">
          <ac:chgData name="Karan Sharma" userId="19cb6a7ceb592709" providerId="LiveId" clId="{A4A6508D-5519-46A9-A7C8-7E39BD626C9C}" dt="2026-01-08T13:55:22.772" v="217"/>
          <ac:spMkLst>
            <pc:docMk/>
            <pc:sldMk cId="160147956" sldId="267"/>
            <ac:spMk id="11" creationId="{9505FE88-33B5-BFB5-81BB-60854DA9FE2F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160147956" sldId="267"/>
            <ac:spMk id="12" creationId="{2633B3B5-CC90-43F0-8714-D31D1F3F0209}"/>
          </ac:spMkLst>
        </pc:spChg>
        <pc:spChg chg="add mod">
          <ac:chgData name="Karan Sharma" userId="19cb6a7ceb592709" providerId="LiveId" clId="{A4A6508D-5519-46A9-A7C8-7E39BD626C9C}" dt="2026-01-08T13:55:22.772" v="217"/>
          <ac:spMkLst>
            <pc:docMk/>
            <pc:sldMk cId="160147956" sldId="267"/>
            <ac:spMk id="13" creationId="{A10FC214-5ABB-5775-9C3B-C439A1A55304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160147956" sldId="267"/>
            <ac:spMk id="14" creationId="{A8D57A06-A426-446D-B02C-A2DC6B62E45E}"/>
          </ac:spMkLst>
        </pc:spChg>
        <pc:spChg chg="add mod">
          <ac:chgData name="Karan Sharma" userId="19cb6a7ceb592709" providerId="LiveId" clId="{A4A6508D-5519-46A9-A7C8-7E39BD626C9C}" dt="2026-01-08T13:55:49.479" v="220" actId="1076"/>
          <ac:spMkLst>
            <pc:docMk/>
            <pc:sldMk cId="160147956" sldId="267"/>
            <ac:spMk id="16" creationId="{8F40F11C-9F7D-3262-ED0B-1FC6D18C6D6A}"/>
          </ac:spMkLst>
        </pc:spChg>
        <pc:spChg chg="add mod">
          <ac:chgData name="Karan Sharma" userId="19cb6a7ceb592709" providerId="LiveId" clId="{A4A6508D-5519-46A9-A7C8-7E39BD626C9C}" dt="2026-01-08T13:58:39.661" v="252" actId="1076"/>
          <ac:spMkLst>
            <pc:docMk/>
            <pc:sldMk cId="160147956" sldId="267"/>
            <ac:spMk id="17" creationId="{7EC116E2-3BF3-1AEB-9B12-8A787295F639}"/>
          </ac:spMkLst>
        </pc:spChg>
        <pc:picChg chg="add mod">
          <ac:chgData name="Karan Sharma" userId="19cb6a7ceb592709" providerId="LiveId" clId="{A4A6508D-5519-46A9-A7C8-7E39BD626C9C}" dt="2026-01-08T13:12:58.155" v="13" actId="26606"/>
          <ac:picMkLst>
            <pc:docMk/>
            <pc:sldMk cId="160147956" sldId="267"/>
            <ac:picMk id="3" creationId="{FADC4DCB-BF70-78E0-0912-6E85B3777207}"/>
          </ac:picMkLst>
        </pc:picChg>
      </pc:sldChg>
      <pc:sldChg chg="addSp delSp modSp new mod setBg delDesignElem">
        <pc:chgData name="Karan Sharma" userId="19cb6a7ceb592709" providerId="LiveId" clId="{A4A6508D-5519-46A9-A7C8-7E39BD626C9C}" dt="2026-01-08T13:58:32.712" v="251" actId="1076"/>
        <pc:sldMkLst>
          <pc:docMk/>
          <pc:sldMk cId="2838520411" sldId="268"/>
        </pc:sldMkLst>
        <pc:spChg chg="add mod">
          <ac:chgData name="Karan Sharma" userId="19cb6a7ceb592709" providerId="LiveId" clId="{A4A6508D-5519-46A9-A7C8-7E39BD626C9C}" dt="2026-01-08T13:32:22.713" v="163"/>
          <ac:spMkLst>
            <pc:docMk/>
            <pc:sldMk cId="2838520411" sldId="268"/>
            <ac:spMk id="4" creationId="{3597EC17-3C8F-7DCB-3A34-30446A4575A2}"/>
          </ac:spMkLst>
        </pc:spChg>
        <pc:spChg chg="add mod">
          <ac:chgData name="Karan Sharma" userId="19cb6a7ceb592709" providerId="LiveId" clId="{A4A6508D-5519-46A9-A7C8-7E39BD626C9C}" dt="2026-01-08T13:32:26.261" v="167" actId="20577"/>
          <ac:spMkLst>
            <pc:docMk/>
            <pc:sldMk cId="2838520411" sldId="268"/>
            <ac:spMk id="5" creationId="{F7B1E443-280C-262C-B659-A93D5DF8850C}"/>
          </ac:spMkLst>
        </pc:spChg>
        <pc:spChg chg="add mod">
          <ac:chgData name="Karan Sharma" userId="19cb6a7ceb592709" providerId="LiveId" clId="{A4A6508D-5519-46A9-A7C8-7E39BD626C9C}" dt="2026-01-08T13:32:22.713" v="163"/>
          <ac:spMkLst>
            <pc:docMk/>
            <pc:sldMk cId="2838520411" sldId="268"/>
            <ac:spMk id="6" creationId="{6188726B-38C6-84E9-BA61-85855DD19382}"/>
          </ac:spMkLst>
        </pc:spChg>
        <pc:spChg chg="add mod">
          <ac:chgData name="Karan Sharma" userId="19cb6a7ceb592709" providerId="LiveId" clId="{A4A6508D-5519-46A9-A7C8-7E39BD626C9C}" dt="2026-01-08T13:55:26.158" v="218"/>
          <ac:spMkLst>
            <pc:docMk/>
            <pc:sldMk cId="2838520411" sldId="268"/>
            <ac:spMk id="7" creationId="{A0E0B196-07FF-D256-8714-BCA2562939B0}"/>
          </ac:spMkLst>
        </pc:spChg>
        <pc:spChg chg="add del">
          <ac:chgData name="Karan Sharma" userId="19cb6a7ceb592709" providerId="LiveId" clId="{A4A6508D-5519-46A9-A7C8-7E39BD626C9C}" dt="2026-01-08T13:18:19.924" v="17" actId="26606"/>
          <ac:spMkLst>
            <pc:docMk/>
            <pc:sldMk cId="2838520411" sldId="268"/>
            <ac:spMk id="8" creationId="{F3060C83-F051-4F0E-ABAD-AA0DFC48B218}"/>
          </ac:spMkLst>
        </pc:spChg>
        <pc:spChg chg="add mod">
          <ac:chgData name="Karan Sharma" userId="19cb6a7ceb592709" providerId="LiveId" clId="{A4A6508D-5519-46A9-A7C8-7E39BD626C9C}" dt="2026-01-08T13:55:26.158" v="218"/>
          <ac:spMkLst>
            <pc:docMk/>
            <pc:sldMk cId="2838520411" sldId="268"/>
            <ac:spMk id="9" creationId="{E6F47865-B7A5-AB25-F4E3-6FB03E2F18EB}"/>
          </ac:spMkLst>
        </pc:spChg>
        <pc:spChg chg="add del">
          <ac:chgData name="Karan Sharma" userId="19cb6a7ceb592709" providerId="LiveId" clId="{A4A6508D-5519-46A9-A7C8-7E39BD626C9C}" dt="2026-01-08T13:18:19.924" v="17" actId="26606"/>
          <ac:spMkLst>
            <pc:docMk/>
            <pc:sldMk cId="2838520411" sldId="268"/>
            <ac:spMk id="10" creationId="{83C98ABE-055B-441F-B07E-44F97F083C39}"/>
          </ac:spMkLst>
        </pc:spChg>
        <pc:spChg chg="add mod">
          <ac:chgData name="Karan Sharma" userId="19cb6a7ceb592709" providerId="LiveId" clId="{A4A6508D-5519-46A9-A7C8-7E39BD626C9C}" dt="2026-01-08T13:55:26.158" v="218"/>
          <ac:spMkLst>
            <pc:docMk/>
            <pc:sldMk cId="2838520411" sldId="268"/>
            <ac:spMk id="11" creationId="{A9B453D0-15A9-25AA-FD5E-55F19BCDFAB5}"/>
          </ac:spMkLst>
        </pc:spChg>
        <pc:spChg chg="add del">
          <ac:chgData name="Karan Sharma" userId="19cb6a7ceb592709" providerId="LiveId" clId="{A4A6508D-5519-46A9-A7C8-7E39BD626C9C}" dt="2026-01-08T13:18:19.924" v="17" actId="26606"/>
          <ac:spMkLst>
            <pc:docMk/>
            <pc:sldMk cId="2838520411" sldId="268"/>
            <ac:spMk id="12" creationId="{29FDB030-9B49-4CED-8CCD-4D99382388AC}"/>
          </ac:spMkLst>
        </pc:spChg>
        <pc:spChg chg="add mod">
          <ac:chgData name="Karan Sharma" userId="19cb6a7ceb592709" providerId="LiveId" clId="{A4A6508D-5519-46A9-A7C8-7E39BD626C9C}" dt="2026-01-08T13:55:26.158" v="218"/>
          <ac:spMkLst>
            <pc:docMk/>
            <pc:sldMk cId="2838520411" sldId="268"/>
            <ac:spMk id="13" creationId="{D55AC4AB-66D6-E38D-186B-AAB791F51A4E}"/>
          </ac:spMkLst>
        </pc:spChg>
        <pc:spChg chg="add del">
          <ac:chgData name="Karan Sharma" userId="19cb6a7ceb592709" providerId="LiveId" clId="{A4A6508D-5519-46A9-A7C8-7E39BD626C9C}" dt="2026-01-08T13:18:19.924" v="17" actId="26606"/>
          <ac:spMkLst>
            <pc:docMk/>
            <pc:sldMk cId="2838520411" sldId="268"/>
            <ac:spMk id="14" creationId="{3783CA14-24A1-485C-8B30-D6A5D87987AD}"/>
          </ac:spMkLst>
        </pc:spChg>
        <pc:spChg chg="add del">
          <ac:chgData name="Karan Sharma" userId="19cb6a7ceb592709" providerId="LiveId" clId="{A4A6508D-5519-46A9-A7C8-7E39BD626C9C}" dt="2026-01-08T13:18:19.924" v="17" actId="26606"/>
          <ac:spMkLst>
            <pc:docMk/>
            <pc:sldMk cId="2838520411" sldId="268"/>
            <ac:spMk id="16" creationId="{9A97C86A-04D6-40F7-AE84-31AB43E6A846}"/>
          </ac:spMkLst>
        </pc:spChg>
        <pc:spChg chg="add mod">
          <ac:chgData name="Karan Sharma" userId="19cb6a7ceb592709" providerId="LiveId" clId="{A4A6508D-5519-46A9-A7C8-7E39BD626C9C}" dt="2026-01-08T13:56:30.372" v="223"/>
          <ac:spMkLst>
            <pc:docMk/>
            <pc:sldMk cId="2838520411" sldId="268"/>
            <ac:spMk id="17" creationId="{667D1771-5661-3AC9-BAEE-FEBEA92F91B4}"/>
          </ac:spMkLst>
        </pc:spChg>
        <pc:spChg chg="add del">
          <ac:chgData name="Karan Sharma" userId="19cb6a7ceb592709" providerId="LiveId" clId="{A4A6508D-5519-46A9-A7C8-7E39BD626C9C}" dt="2026-01-08T13:18:19.924" v="17" actId="26606"/>
          <ac:spMkLst>
            <pc:docMk/>
            <pc:sldMk cId="2838520411" sldId="268"/>
            <ac:spMk id="18" creationId="{FF9F2414-84E8-453E-B1F3-389FDE8192D9}"/>
          </ac:spMkLst>
        </pc:spChg>
        <pc:spChg chg="add del">
          <ac:chgData name="Karan Sharma" userId="19cb6a7ceb592709" providerId="LiveId" clId="{A4A6508D-5519-46A9-A7C8-7E39BD626C9C}" dt="2026-01-08T13:18:19.924" v="17" actId="26606"/>
          <ac:spMkLst>
            <pc:docMk/>
            <pc:sldMk cId="2838520411" sldId="268"/>
            <ac:spMk id="20" creationId="{3ECA69A1-7536-43AC-85EF-C7106179F5ED}"/>
          </ac:spMkLst>
        </pc:spChg>
        <pc:spChg chg="add mod">
          <ac:chgData name="Karan Sharma" userId="19cb6a7ceb592709" providerId="LiveId" clId="{A4A6508D-5519-46A9-A7C8-7E39BD626C9C}" dt="2026-01-08T13:58:32.712" v="251" actId="1076"/>
          <ac:spMkLst>
            <pc:docMk/>
            <pc:sldMk cId="2838520411" sldId="268"/>
            <ac:spMk id="21" creationId="{F1010C33-B2DC-F192-6C36-EE0B5E0C62D5}"/>
          </ac:spMkLst>
        </pc:spChg>
        <pc:spChg chg="add del">
          <ac:chgData name="Karan Sharma" userId="19cb6a7ceb592709" providerId="LiveId" clId="{A4A6508D-5519-46A9-A7C8-7E39BD626C9C}" dt="2026-01-08T13:18:22.156" v="19" actId="26606"/>
          <ac:spMkLst>
            <pc:docMk/>
            <pc:sldMk cId="2838520411" sldId="268"/>
            <ac:spMk id="22" creationId="{32BC26D8-82FB-445E-AA49-62A77D7C1EE0}"/>
          </ac:spMkLst>
        </pc:spChg>
        <pc:spChg chg="add del">
          <ac:chgData name="Karan Sharma" userId="19cb6a7ceb592709" providerId="LiveId" clId="{A4A6508D-5519-46A9-A7C8-7E39BD626C9C}" dt="2026-01-08T13:18:22.156" v="19" actId="26606"/>
          <ac:spMkLst>
            <pc:docMk/>
            <pc:sldMk cId="2838520411" sldId="268"/>
            <ac:spMk id="23" creationId="{CB44330D-EA18-4254-AA95-EB49948539B8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2838520411" sldId="268"/>
            <ac:spMk id="25" creationId="{AB8C311F-7253-4AED-9701-7FC0708C41C7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2838520411" sldId="268"/>
            <ac:spMk id="26" creationId="{E2384209-CB15-4CDF-9D31-C44FD9A3F20D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2838520411" sldId="268"/>
            <ac:spMk id="27" creationId="{2633B3B5-CC90-43F0-8714-D31D1F3F0209}"/>
          </ac:spMkLst>
        </pc:spChg>
        <pc:spChg chg="add del">
          <ac:chgData name="Karan Sharma" userId="19cb6a7ceb592709" providerId="LiveId" clId="{A4A6508D-5519-46A9-A7C8-7E39BD626C9C}" dt="2026-01-08T13:54:15.600" v="210"/>
          <ac:spMkLst>
            <pc:docMk/>
            <pc:sldMk cId="2838520411" sldId="268"/>
            <ac:spMk id="28" creationId="{A8D57A06-A426-446D-B02C-A2DC6B62E45E}"/>
          </ac:spMkLst>
        </pc:spChg>
        <pc:picChg chg="add mod">
          <ac:chgData name="Karan Sharma" userId="19cb6a7ceb592709" providerId="LiveId" clId="{A4A6508D-5519-46A9-A7C8-7E39BD626C9C}" dt="2026-01-08T13:18:22.169" v="20" actId="26606"/>
          <ac:picMkLst>
            <pc:docMk/>
            <pc:sldMk cId="2838520411" sldId="268"/>
            <ac:picMk id="3" creationId="{5B0948F5-7D8B-76E3-5E8A-5F88B7FAD6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07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1443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13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089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006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808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021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247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7093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420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536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6038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0683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4000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73561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25090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7936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4389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5620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37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80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livewallpapers.com/c05e7d399dbed28bedf44d8f23473cdf41d39a7c.webp"/>
          <p:cNvPicPr>
            <a:picLocks noChangeAspect="1"/>
          </p:cNvPicPr>
          <p:nvPr/>
        </p:nvPicPr>
        <p:blipFill>
          <a:blip r:embed="rId3">
            <a:alphaModFix amt="40000"/>
          </a:blip>
          <a:srcRect t="36491" b="364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381000" y="4572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04900" y="3810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263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 HACKATHON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2400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 2.0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6670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7D8A9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Unified Clinical Intelligence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7D8A9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114800"/>
            <a:ext cx="2438400" cy="9525"/>
          </a:xfrm>
          <a:custGeom>
            <a:avLst/>
            <a:gdLst/>
            <a:ahLst/>
            <a:cxnLst/>
            <a:rect l="l" t="t" r="r" b="b"/>
            <a:pathLst>
              <a:path w="2438400" h="9525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4010025"/>
            <a:ext cx="116586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Revolutionizing Clinical Trials with Agentic AI &amp; Global Anomaly Detection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8156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38200" y="617220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815346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922502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272546" y="61722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Intelligence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791069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898225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248269" y="6172200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Safety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C9EB44-BAA3-BD8E-D64D-1A5D87B77CE8}"/>
              </a:ext>
            </a:extLst>
          </p:cNvPr>
          <p:cNvSpPr txBox="1"/>
          <p:nvPr/>
        </p:nvSpPr>
        <p:spPr>
          <a:xfrm>
            <a:off x="3038281" y="4942791"/>
            <a:ext cx="621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Name : Data </a:t>
            </a:r>
            <a:r>
              <a:rPr lang="en-US" sz="1800" b="1" dirty="0" err="1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Morphers</a:t>
            </a:r>
            <a:r>
              <a:rPr lang="en-US" sz="18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356231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142492" y="0"/>
                </a:moveTo>
                <a:lnTo>
                  <a:pt x="142492" y="0"/>
                </a:lnTo>
                <a:cubicBezTo>
                  <a:pt x="221136" y="0"/>
                  <a:pt x="284985" y="63849"/>
                  <a:pt x="284985" y="142492"/>
                </a:cubicBezTo>
                <a:lnTo>
                  <a:pt x="284985" y="142492"/>
                </a:lnTo>
                <a:cubicBezTo>
                  <a:pt x="284985" y="221136"/>
                  <a:pt x="221136" y="284985"/>
                  <a:pt x="142492" y="284985"/>
                </a:cubicBezTo>
                <a:lnTo>
                  <a:pt x="142492" y="284985"/>
                </a:lnTo>
                <a:cubicBezTo>
                  <a:pt x="63849" y="284985"/>
                  <a:pt x="0" y="221136"/>
                  <a:pt x="0" y="142492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16155" y="356231"/>
            <a:ext cx="365137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8085" y="480912"/>
            <a:ext cx="9885405" cy="35623"/>
          </a:xfrm>
          <a:custGeom>
            <a:avLst/>
            <a:gdLst/>
            <a:ahLst/>
            <a:cxnLst/>
            <a:rect l="l" t="t" r="r" b="b"/>
            <a:pathLst>
              <a:path w="9885405" h="35623">
                <a:moveTo>
                  <a:pt x="0" y="0"/>
                </a:moveTo>
                <a:lnTo>
                  <a:pt x="9885405" y="0"/>
                </a:lnTo>
                <a:lnTo>
                  <a:pt x="9885405" y="35623"/>
                </a:lnTo>
                <a:lnTo>
                  <a:pt x="0" y="35623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43365" y="409665"/>
            <a:ext cx="115775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kern="0" spc="9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Why Now?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231" y="783708"/>
            <a:ext cx="11693277" cy="534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Crisis of Complexity in Clinical Trials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042" y="1460546"/>
            <a:ext cx="7578811" cy="3134831"/>
          </a:xfrm>
          <a:custGeom>
            <a:avLst/>
            <a:gdLst/>
            <a:ahLst/>
            <a:cxnLst/>
            <a:rect l="l" t="t" r="r" b="b"/>
            <a:pathLst>
              <a:path w="7578811" h="3134831">
                <a:moveTo>
                  <a:pt x="35623" y="0"/>
                </a:moveTo>
                <a:lnTo>
                  <a:pt x="7507556" y="0"/>
                </a:lnTo>
                <a:cubicBezTo>
                  <a:pt x="7546909" y="0"/>
                  <a:pt x="7578811" y="31902"/>
                  <a:pt x="7578811" y="71255"/>
                </a:cubicBezTo>
                <a:lnTo>
                  <a:pt x="7578811" y="3063577"/>
                </a:lnTo>
                <a:cubicBezTo>
                  <a:pt x="7578811" y="3102929"/>
                  <a:pt x="7546909" y="3134831"/>
                  <a:pt x="7507556" y="3134831"/>
                </a:cubicBezTo>
                <a:lnTo>
                  <a:pt x="35623" y="3134831"/>
                </a:lnTo>
                <a:cubicBezTo>
                  <a:pt x="15949" y="3134831"/>
                  <a:pt x="0" y="3118882"/>
                  <a:pt x="0" y="3099208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74042" y="1460546"/>
            <a:ext cx="35623" cy="3134831"/>
          </a:xfrm>
          <a:custGeom>
            <a:avLst/>
            <a:gdLst/>
            <a:ahLst/>
            <a:cxnLst/>
            <a:rect l="l" t="t" r="r" b="b"/>
            <a:pathLst>
              <a:path w="35623" h="3134831">
                <a:moveTo>
                  <a:pt x="35623" y="0"/>
                </a:moveTo>
                <a:lnTo>
                  <a:pt x="35623" y="0"/>
                </a:lnTo>
                <a:lnTo>
                  <a:pt x="35623" y="3134831"/>
                </a:lnTo>
                <a:lnTo>
                  <a:pt x="35623" y="3134831"/>
                </a:lnTo>
                <a:cubicBezTo>
                  <a:pt x="15949" y="3134831"/>
                  <a:pt x="0" y="3118882"/>
                  <a:pt x="0" y="3099208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69969" y="1638662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71248" y="0"/>
                </a:moveTo>
                <a:lnTo>
                  <a:pt x="356229" y="0"/>
                </a:lnTo>
                <a:cubicBezTo>
                  <a:pt x="395578" y="0"/>
                  <a:pt x="427477" y="31899"/>
                  <a:pt x="427477" y="71248"/>
                </a:cubicBezTo>
                <a:lnTo>
                  <a:pt x="427477" y="356229"/>
                </a:lnTo>
                <a:cubicBezTo>
                  <a:pt x="427477" y="395578"/>
                  <a:pt x="395578" y="427477"/>
                  <a:pt x="356229" y="427477"/>
                </a:cubicBezTo>
                <a:lnTo>
                  <a:pt x="71248" y="427477"/>
                </a:lnTo>
                <a:cubicBezTo>
                  <a:pt x="31899" y="427477"/>
                  <a:pt x="0" y="395578"/>
                  <a:pt x="0" y="356229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5782" y="1763343"/>
            <a:ext cx="155851" cy="178115"/>
          </a:xfrm>
          <a:custGeom>
            <a:avLst/>
            <a:gdLst/>
            <a:ahLst/>
            <a:cxnLst/>
            <a:rect l="l" t="t" r="r" b="b"/>
            <a:pathLst>
              <a:path w="155851" h="178115">
                <a:moveTo>
                  <a:pt x="155851" y="71594"/>
                </a:moveTo>
                <a:cubicBezTo>
                  <a:pt x="150702" y="75003"/>
                  <a:pt x="144788" y="77752"/>
                  <a:pt x="138631" y="79943"/>
                </a:cubicBezTo>
                <a:cubicBezTo>
                  <a:pt x="122280" y="85788"/>
                  <a:pt x="100816" y="89058"/>
                  <a:pt x="77925" y="89058"/>
                </a:cubicBezTo>
                <a:cubicBezTo>
                  <a:pt x="55035" y="89058"/>
                  <a:pt x="33536" y="85753"/>
                  <a:pt x="17220" y="79943"/>
                </a:cubicBezTo>
                <a:cubicBezTo>
                  <a:pt x="11097" y="77752"/>
                  <a:pt x="5149" y="75003"/>
                  <a:pt x="0" y="71594"/>
                </a:cubicBezTo>
                <a:lnTo>
                  <a:pt x="0" y="100190"/>
                </a:lnTo>
                <a:cubicBezTo>
                  <a:pt x="0" y="115566"/>
                  <a:pt x="34893" y="128020"/>
                  <a:pt x="77925" y="128020"/>
                </a:cubicBezTo>
                <a:cubicBezTo>
                  <a:pt x="120958" y="128020"/>
                  <a:pt x="155851" y="115566"/>
                  <a:pt x="155851" y="100190"/>
                </a:cubicBezTo>
                <a:lnTo>
                  <a:pt x="155851" y="71594"/>
                </a:lnTo>
                <a:close/>
                <a:moveTo>
                  <a:pt x="155851" y="44529"/>
                </a:moveTo>
                <a:lnTo>
                  <a:pt x="155851" y="27831"/>
                </a:lnTo>
                <a:cubicBezTo>
                  <a:pt x="155851" y="12454"/>
                  <a:pt x="120958" y="0"/>
                  <a:pt x="77925" y="0"/>
                </a:cubicBezTo>
                <a:cubicBezTo>
                  <a:pt x="34893" y="0"/>
                  <a:pt x="0" y="12454"/>
                  <a:pt x="0" y="27831"/>
                </a:cubicBezTo>
                <a:lnTo>
                  <a:pt x="0" y="44529"/>
                </a:lnTo>
                <a:cubicBezTo>
                  <a:pt x="0" y="59905"/>
                  <a:pt x="34893" y="72359"/>
                  <a:pt x="77925" y="72359"/>
                </a:cubicBezTo>
                <a:cubicBezTo>
                  <a:pt x="120958" y="72359"/>
                  <a:pt x="155851" y="59905"/>
                  <a:pt x="155851" y="44529"/>
                </a:cubicBezTo>
                <a:close/>
                <a:moveTo>
                  <a:pt x="138631" y="135604"/>
                </a:moveTo>
                <a:cubicBezTo>
                  <a:pt x="122315" y="141414"/>
                  <a:pt x="100851" y="144719"/>
                  <a:pt x="77925" y="144719"/>
                </a:cubicBezTo>
                <a:cubicBezTo>
                  <a:pt x="55000" y="144719"/>
                  <a:pt x="33536" y="141414"/>
                  <a:pt x="17220" y="135604"/>
                </a:cubicBezTo>
                <a:cubicBezTo>
                  <a:pt x="11097" y="133413"/>
                  <a:pt x="5149" y="130664"/>
                  <a:pt x="0" y="127255"/>
                </a:cubicBezTo>
                <a:lnTo>
                  <a:pt x="0" y="150285"/>
                </a:lnTo>
                <a:cubicBezTo>
                  <a:pt x="0" y="165661"/>
                  <a:pt x="34893" y="178115"/>
                  <a:pt x="77925" y="178115"/>
                </a:cubicBezTo>
                <a:cubicBezTo>
                  <a:pt x="120958" y="178115"/>
                  <a:pt x="155851" y="165661"/>
                  <a:pt x="155851" y="150285"/>
                </a:cubicBezTo>
                <a:lnTo>
                  <a:pt x="155851" y="127255"/>
                </a:lnTo>
                <a:cubicBezTo>
                  <a:pt x="150702" y="130664"/>
                  <a:pt x="144788" y="133413"/>
                  <a:pt x="138631" y="135604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04316" y="1709908"/>
            <a:ext cx="1579994" cy="31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9969" y="2239683"/>
            <a:ext cx="7276015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typical pharma company runs 20+ parallel studies simultaneously.</a:t>
            </a: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is exploding across every trial—EDC metrics, safety reports, Whodrug coding, lab results, adverse events—</a:t>
            </a:r>
            <a:r>
              <a:rPr lang="en-US" sz="14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trapped in disconnected Excel files and siloed databases</a:t>
            </a: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9969" y="3669178"/>
            <a:ext cx="3544497" cy="748085"/>
          </a:xfrm>
          <a:custGeom>
            <a:avLst/>
            <a:gdLst/>
            <a:ahLst/>
            <a:cxnLst/>
            <a:rect l="l" t="t" r="r" b="b"/>
            <a:pathLst>
              <a:path w="3544497" h="748085">
                <a:moveTo>
                  <a:pt x="35624" y="0"/>
                </a:moveTo>
                <a:lnTo>
                  <a:pt x="3508873" y="0"/>
                </a:lnTo>
                <a:cubicBezTo>
                  <a:pt x="3528547" y="0"/>
                  <a:pt x="3544497" y="15949"/>
                  <a:pt x="3544497" y="35624"/>
                </a:cubicBezTo>
                <a:lnTo>
                  <a:pt x="3544497" y="712461"/>
                </a:lnTo>
                <a:cubicBezTo>
                  <a:pt x="3544497" y="732135"/>
                  <a:pt x="3528547" y="748085"/>
                  <a:pt x="3508873" y="748085"/>
                </a:cubicBezTo>
                <a:lnTo>
                  <a:pt x="35624" y="748085"/>
                </a:lnTo>
                <a:cubicBezTo>
                  <a:pt x="15949" y="748085"/>
                  <a:pt x="0" y="732135"/>
                  <a:pt x="0" y="712461"/>
                </a:cubicBezTo>
                <a:lnTo>
                  <a:pt x="0" y="35624"/>
                </a:lnTo>
                <a:cubicBezTo>
                  <a:pt x="0" y="15949"/>
                  <a:pt x="15949" y="0"/>
                  <a:pt x="356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0045" y="3776047"/>
            <a:ext cx="3464345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4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668" y="4132278"/>
            <a:ext cx="339309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Studies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4007" y="3669178"/>
            <a:ext cx="3544497" cy="748085"/>
          </a:xfrm>
          <a:custGeom>
            <a:avLst/>
            <a:gdLst/>
            <a:ahLst/>
            <a:cxnLst/>
            <a:rect l="l" t="t" r="r" b="b"/>
            <a:pathLst>
              <a:path w="3544497" h="748085">
                <a:moveTo>
                  <a:pt x="35624" y="0"/>
                </a:moveTo>
                <a:lnTo>
                  <a:pt x="3508873" y="0"/>
                </a:lnTo>
                <a:cubicBezTo>
                  <a:pt x="3528547" y="0"/>
                  <a:pt x="3544497" y="15949"/>
                  <a:pt x="3544497" y="35624"/>
                </a:cubicBezTo>
                <a:lnTo>
                  <a:pt x="3544497" y="712461"/>
                </a:lnTo>
                <a:cubicBezTo>
                  <a:pt x="3544497" y="732135"/>
                  <a:pt x="3528547" y="748085"/>
                  <a:pt x="3508873" y="748085"/>
                </a:cubicBezTo>
                <a:lnTo>
                  <a:pt x="35624" y="748085"/>
                </a:lnTo>
                <a:cubicBezTo>
                  <a:pt x="15949" y="748085"/>
                  <a:pt x="0" y="732135"/>
                  <a:pt x="0" y="712461"/>
                </a:cubicBezTo>
                <a:lnTo>
                  <a:pt x="0" y="35624"/>
                </a:lnTo>
                <a:cubicBezTo>
                  <a:pt x="0" y="15949"/>
                  <a:pt x="15949" y="0"/>
                  <a:pt x="356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64083" y="3776047"/>
            <a:ext cx="3464345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4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9706" y="4132278"/>
            <a:ext cx="339309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Points/Day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45107" y="1460546"/>
            <a:ext cx="3686989" cy="1478358"/>
          </a:xfrm>
          <a:custGeom>
            <a:avLst/>
            <a:gdLst/>
            <a:ahLst/>
            <a:cxnLst/>
            <a:rect l="l" t="t" r="r" b="b"/>
            <a:pathLst>
              <a:path w="3686989" h="1478358">
                <a:moveTo>
                  <a:pt x="35623" y="0"/>
                </a:moveTo>
                <a:lnTo>
                  <a:pt x="3615747" y="0"/>
                </a:lnTo>
                <a:cubicBezTo>
                  <a:pt x="3655093" y="0"/>
                  <a:pt x="3686989" y="31896"/>
                  <a:pt x="3686989" y="71242"/>
                </a:cubicBezTo>
                <a:lnTo>
                  <a:pt x="3686989" y="1407116"/>
                </a:lnTo>
                <a:cubicBezTo>
                  <a:pt x="3686989" y="1446462"/>
                  <a:pt x="3655093" y="1478358"/>
                  <a:pt x="3615747" y="1478358"/>
                </a:cubicBezTo>
                <a:lnTo>
                  <a:pt x="35623" y="1478358"/>
                </a:lnTo>
                <a:cubicBezTo>
                  <a:pt x="15949" y="1478358"/>
                  <a:pt x="0" y="1462409"/>
                  <a:pt x="0" y="1442735"/>
                </a:cubicBezTo>
                <a:lnTo>
                  <a:pt x="0" y="35623"/>
                </a:lnTo>
                <a:cubicBezTo>
                  <a:pt x="0" y="15949"/>
                  <a:pt x="15949" y="0"/>
                  <a:pt x="35623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45107" y="1460546"/>
            <a:ext cx="35623" cy="1478358"/>
          </a:xfrm>
          <a:custGeom>
            <a:avLst/>
            <a:gdLst/>
            <a:ahLst/>
            <a:cxnLst/>
            <a:rect l="l" t="t" r="r" b="b"/>
            <a:pathLst>
              <a:path w="35623" h="1478358">
                <a:moveTo>
                  <a:pt x="35623" y="0"/>
                </a:moveTo>
                <a:lnTo>
                  <a:pt x="35623" y="0"/>
                </a:lnTo>
                <a:lnTo>
                  <a:pt x="35623" y="1478358"/>
                </a:lnTo>
                <a:lnTo>
                  <a:pt x="35623" y="1478358"/>
                </a:lnTo>
                <a:cubicBezTo>
                  <a:pt x="15949" y="1478358"/>
                  <a:pt x="0" y="1462409"/>
                  <a:pt x="0" y="1442735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341034" y="1638662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441224" y="1736625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80152" y="160304"/>
                </a:moveTo>
                <a:cubicBezTo>
                  <a:pt x="124389" y="160304"/>
                  <a:pt x="160304" y="124389"/>
                  <a:pt x="160304" y="80152"/>
                </a:cubicBezTo>
                <a:cubicBezTo>
                  <a:pt x="160304" y="35915"/>
                  <a:pt x="124389" y="0"/>
                  <a:pt x="80152" y="0"/>
                </a:cubicBezTo>
                <a:cubicBezTo>
                  <a:pt x="35915" y="0"/>
                  <a:pt x="0" y="35915"/>
                  <a:pt x="0" y="80152"/>
                </a:cubicBezTo>
                <a:cubicBezTo>
                  <a:pt x="0" y="124389"/>
                  <a:pt x="35915" y="160304"/>
                  <a:pt x="80152" y="160304"/>
                </a:cubicBezTo>
                <a:close/>
                <a:moveTo>
                  <a:pt x="52287" y="52287"/>
                </a:moveTo>
                <a:cubicBezTo>
                  <a:pt x="55230" y="49344"/>
                  <a:pt x="59989" y="49344"/>
                  <a:pt x="62900" y="52287"/>
                </a:cubicBezTo>
                <a:lnTo>
                  <a:pt x="80121" y="69507"/>
                </a:lnTo>
                <a:lnTo>
                  <a:pt x="97341" y="52287"/>
                </a:lnTo>
                <a:cubicBezTo>
                  <a:pt x="100284" y="49344"/>
                  <a:pt x="105043" y="49344"/>
                  <a:pt x="107955" y="52287"/>
                </a:cubicBezTo>
                <a:cubicBezTo>
                  <a:pt x="110866" y="55230"/>
                  <a:pt x="110898" y="59989"/>
                  <a:pt x="107955" y="62900"/>
                </a:cubicBezTo>
                <a:lnTo>
                  <a:pt x="90734" y="80121"/>
                </a:lnTo>
                <a:lnTo>
                  <a:pt x="107955" y="97341"/>
                </a:lnTo>
                <a:cubicBezTo>
                  <a:pt x="110898" y="100284"/>
                  <a:pt x="110898" y="105043"/>
                  <a:pt x="107955" y="107955"/>
                </a:cubicBezTo>
                <a:cubicBezTo>
                  <a:pt x="105012" y="110866"/>
                  <a:pt x="100253" y="110898"/>
                  <a:pt x="97341" y="107955"/>
                </a:cubicBezTo>
                <a:lnTo>
                  <a:pt x="80121" y="90734"/>
                </a:lnTo>
                <a:lnTo>
                  <a:pt x="62900" y="107955"/>
                </a:lnTo>
                <a:cubicBezTo>
                  <a:pt x="59957" y="110898"/>
                  <a:pt x="55198" y="110898"/>
                  <a:pt x="52287" y="107955"/>
                </a:cubicBezTo>
                <a:cubicBezTo>
                  <a:pt x="49375" y="105012"/>
                  <a:pt x="49344" y="100253"/>
                  <a:pt x="52287" y="97341"/>
                </a:cubicBezTo>
                <a:lnTo>
                  <a:pt x="69507" y="80121"/>
                </a:lnTo>
                <a:lnTo>
                  <a:pt x="52287" y="62900"/>
                </a:lnTo>
                <a:cubicBezTo>
                  <a:pt x="49344" y="59957"/>
                  <a:pt x="49344" y="55198"/>
                  <a:pt x="52287" y="52287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768511" y="1637346"/>
            <a:ext cx="1233338" cy="334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Gap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41034" y="2066139"/>
            <a:ext cx="3384193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tools are </a:t>
            </a: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"Reactive"</a:t>
            </a: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(reporting what happened last month) and </a:t>
            </a: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"Siloed"</a:t>
            </a: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(Study A doesn't learn from Study B).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145107" y="3117020"/>
            <a:ext cx="3686989" cy="1478358"/>
          </a:xfrm>
          <a:custGeom>
            <a:avLst/>
            <a:gdLst/>
            <a:ahLst/>
            <a:cxnLst/>
            <a:rect l="l" t="t" r="r" b="b"/>
            <a:pathLst>
              <a:path w="3686989" h="1478358">
                <a:moveTo>
                  <a:pt x="35623" y="0"/>
                </a:moveTo>
                <a:lnTo>
                  <a:pt x="3615747" y="0"/>
                </a:lnTo>
                <a:cubicBezTo>
                  <a:pt x="3655093" y="0"/>
                  <a:pt x="3686989" y="31896"/>
                  <a:pt x="3686989" y="71242"/>
                </a:cubicBezTo>
                <a:lnTo>
                  <a:pt x="3686989" y="1407116"/>
                </a:lnTo>
                <a:cubicBezTo>
                  <a:pt x="3686989" y="1446462"/>
                  <a:pt x="3655093" y="1478358"/>
                  <a:pt x="3615747" y="1478358"/>
                </a:cubicBezTo>
                <a:lnTo>
                  <a:pt x="35623" y="1478358"/>
                </a:lnTo>
                <a:cubicBezTo>
                  <a:pt x="15949" y="1478358"/>
                  <a:pt x="0" y="1462409"/>
                  <a:pt x="0" y="1442735"/>
                </a:cubicBezTo>
                <a:lnTo>
                  <a:pt x="0" y="35623"/>
                </a:lnTo>
                <a:cubicBezTo>
                  <a:pt x="0" y="15949"/>
                  <a:pt x="15949" y="0"/>
                  <a:pt x="35623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145107" y="3117020"/>
            <a:ext cx="35623" cy="1478358"/>
          </a:xfrm>
          <a:custGeom>
            <a:avLst/>
            <a:gdLst/>
            <a:ahLst/>
            <a:cxnLst/>
            <a:rect l="l" t="t" r="r" b="b"/>
            <a:pathLst>
              <a:path w="35623" h="1478358">
                <a:moveTo>
                  <a:pt x="35623" y="0"/>
                </a:moveTo>
                <a:lnTo>
                  <a:pt x="35623" y="0"/>
                </a:lnTo>
                <a:lnTo>
                  <a:pt x="35623" y="1478358"/>
                </a:lnTo>
                <a:lnTo>
                  <a:pt x="35623" y="1478358"/>
                </a:lnTo>
                <a:cubicBezTo>
                  <a:pt x="15949" y="1478358"/>
                  <a:pt x="0" y="1462409"/>
                  <a:pt x="0" y="1442735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41034" y="3295135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431205" y="3393099"/>
            <a:ext cx="180342" cy="160304"/>
          </a:xfrm>
          <a:custGeom>
            <a:avLst/>
            <a:gdLst/>
            <a:ahLst/>
            <a:cxnLst/>
            <a:rect l="l" t="t" r="r" b="b"/>
            <a:pathLst>
              <a:path w="180342" h="160304">
                <a:moveTo>
                  <a:pt x="90171" y="10019"/>
                </a:moveTo>
                <a:cubicBezTo>
                  <a:pt x="64873" y="10019"/>
                  <a:pt x="44616" y="21541"/>
                  <a:pt x="29869" y="35254"/>
                </a:cubicBezTo>
                <a:cubicBezTo>
                  <a:pt x="15216" y="48874"/>
                  <a:pt x="5417" y="65123"/>
                  <a:pt x="751" y="76301"/>
                </a:cubicBezTo>
                <a:cubicBezTo>
                  <a:pt x="-282" y="78774"/>
                  <a:pt x="-282" y="81530"/>
                  <a:pt x="751" y="84003"/>
                </a:cubicBezTo>
                <a:cubicBezTo>
                  <a:pt x="5417" y="95180"/>
                  <a:pt x="15216" y="111461"/>
                  <a:pt x="29869" y="125050"/>
                </a:cubicBezTo>
                <a:cubicBezTo>
                  <a:pt x="44616" y="138732"/>
                  <a:pt x="64873" y="150285"/>
                  <a:pt x="90171" y="150285"/>
                </a:cubicBezTo>
                <a:cubicBezTo>
                  <a:pt x="115469" y="150285"/>
                  <a:pt x="135726" y="138763"/>
                  <a:pt x="150473" y="125050"/>
                </a:cubicBezTo>
                <a:cubicBezTo>
                  <a:pt x="165126" y="111430"/>
                  <a:pt x="174925" y="95180"/>
                  <a:pt x="179590" y="84003"/>
                </a:cubicBezTo>
                <a:cubicBezTo>
                  <a:pt x="180624" y="81530"/>
                  <a:pt x="180624" y="78774"/>
                  <a:pt x="179590" y="76301"/>
                </a:cubicBezTo>
                <a:cubicBezTo>
                  <a:pt x="174925" y="65123"/>
                  <a:pt x="165126" y="48843"/>
                  <a:pt x="150473" y="35254"/>
                </a:cubicBezTo>
                <a:cubicBezTo>
                  <a:pt x="135726" y="21572"/>
                  <a:pt x="115469" y="10019"/>
                  <a:pt x="90171" y="10019"/>
                </a:cubicBezTo>
                <a:close/>
                <a:moveTo>
                  <a:pt x="45085" y="80152"/>
                </a:moveTo>
                <a:cubicBezTo>
                  <a:pt x="45085" y="55269"/>
                  <a:pt x="65288" y="35066"/>
                  <a:pt x="90171" y="35066"/>
                </a:cubicBezTo>
                <a:cubicBezTo>
                  <a:pt x="115054" y="35066"/>
                  <a:pt x="135256" y="55269"/>
                  <a:pt x="135256" y="80152"/>
                </a:cubicBezTo>
                <a:cubicBezTo>
                  <a:pt x="135256" y="105035"/>
                  <a:pt x="115054" y="125237"/>
                  <a:pt x="90171" y="125237"/>
                </a:cubicBezTo>
                <a:cubicBezTo>
                  <a:pt x="65288" y="125237"/>
                  <a:pt x="45085" y="105035"/>
                  <a:pt x="45085" y="80152"/>
                </a:cubicBezTo>
                <a:close/>
                <a:moveTo>
                  <a:pt x="90171" y="60114"/>
                </a:moveTo>
                <a:cubicBezTo>
                  <a:pt x="90171" y="71166"/>
                  <a:pt x="81185" y="80152"/>
                  <a:pt x="70133" y="80152"/>
                </a:cubicBezTo>
                <a:cubicBezTo>
                  <a:pt x="66532" y="80152"/>
                  <a:pt x="63151" y="79213"/>
                  <a:pt x="60208" y="77522"/>
                </a:cubicBezTo>
                <a:cubicBezTo>
                  <a:pt x="59895" y="80935"/>
                  <a:pt x="60177" y="84441"/>
                  <a:pt x="61116" y="87917"/>
                </a:cubicBezTo>
                <a:cubicBezTo>
                  <a:pt x="65405" y="103947"/>
                  <a:pt x="81905" y="113465"/>
                  <a:pt x="97936" y="109176"/>
                </a:cubicBezTo>
                <a:cubicBezTo>
                  <a:pt x="113966" y="104886"/>
                  <a:pt x="123484" y="88386"/>
                  <a:pt x="119195" y="72356"/>
                </a:cubicBezTo>
                <a:cubicBezTo>
                  <a:pt x="115375" y="58048"/>
                  <a:pt x="101818" y="48937"/>
                  <a:pt x="87541" y="50189"/>
                </a:cubicBezTo>
                <a:cubicBezTo>
                  <a:pt x="89200" y="53101"/>
                  <a:pt x="90171" y="56482"/>
                  <a:pt x="90171" y="60114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68511" y="3291419"/>
            <a:ext cx="1273316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Vision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41034" y="3722612"/>
            <a:ext cx="3384193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2.0: A </a:t>
            </a: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"Global Intelligence"</a:t>
            </a: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engine that stitches every study together to </a:t>
            </a: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risks before they happen</a:t>
            </a: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59793" y="4741432"/>
            <a:ext cx="11468851" cy="1752656"/>
          </a:xfrm>
          <a:custGeom>
            <a:avLst/>
            <a:gdLst/>
            <a:ahLst/>
            <a:cxnLst/>
            <a:rect l="l" t="t" r="r" b="b"/>
            <a:pathLst>
              <a:path w="11468851" h="1752656">
                <a:moveTo>
                  <a:pt x="71245" y="0"/>
                </a:moveTo>
                <a:lnTo>
                  <a:pt x="11397606" y="0"/>
                </a:lnTo>
                <a:cubicBezTo>
                  <a:pt x="11436954" y="0"/>
                  <a:pt x="11468851" y="31898"/>
                  <a:pt x="11468851" y="71245"/>
                </a:cubicBezTo>
                <a:lnTo>
                  <a:pt x="11468851" y="1681410"/>
                </a:lnTo>
                <a:cubicBezTo>
                  <a:pt x="11468851" y="1720758"/>
                  <a:pt x="11436954" y="1752656"/>
                  <a:pt x="11397606" y="1752656"/>
                </a:cubicBezTo>
                <a:lnTo>
                  <a:pt x="71245" y="1752656"/>
                </a:lnTo>
                <a:cubicBezTo>
                  <a:pt x="31898" y="1752656"/>
                  <a:pt x="0" y="1720758"/>
                  <a:pt x="0" y="168141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2129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5848" y="4887487"/>
            <a:ext cx="1124798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kern="0" spc="56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   Current State					 vs				            NEST 2.0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2972" y="5215220"/>
            <a:ext cx="699994" cy="699994"/>
          </a:xfrm>
          <a:custGeom>
            <a:avLst/>
            <a:gdLst/>
            <a:ahLst/>
            <a:cxnLst/>
            <a:rect l="l" t="t" r="r" b="b"/>
            <a:pathLst>
              <a:path w="699994" h="699994">
                <a:moveTo>
                  <a:pt x="71245" y="0"/>
                </a:moveTo>
                <a:lnTo>
                  <a:pt x="628748" y="0"/>
                </a:lnTo>
                <a:cubicBezTo>
                  <a:pt x="668096" y="0"/>
                  <a:pt x="699994" y="31898"/>
                  <a:pt x="699994" y="71245"/>
                </a:cubicBezTo>
                <a:lnTo>
                  <a:pt x="699994" y="628748"/>
                </a:lnTo>
                <a:cubicBezTo>
                  <a:pt x="699994" y="668096"/>
                  <a:pt x="668096" y="699994"/>
                  <a:pt x="628748" y="699994"/>
                </a:cubicBezTo>
                <a:lnTo>
                  <a:pt x="71245" y="699994"/>
                </a:lnTo>
                <a:cubicBezTo>
                  <a:pt x="31898" y="699994"/>
                  <a:pt x="0" y="668096"/>
                  <a:pt x="0" y="628748"/>
                </a:cubicBezTo>
                <a:lnTo>
                  <a:pt x="0" y="71245"/>
                </a:lnTo>
                <a:cubicBezTo>
                  <a:pt x="0" y="31898"/>
                  <a:pt x="31898" y="0"/>
                  <a:pt x="71245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81927" y="5457457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0" y="26717"/>
                </a:moveTo>
                <a:cubicBezTo>
                  <a:pt x="0" y="11981"/>
                  <a:pt x="11981" y="0"/>
                  <a:pt x="26717" y="0"/>
                </a:cubicBezTo>
                <a:lnTo>
                  <a:pt x="89127" y="0"/>
                </a:lnTo>
                <a:cubicBezTo>
                  <a:pt x="96224" y="0"/>
                  <a:pt x="103029" y="2797"/>
                  <a:pt x="108038" y="7806"/>
                </a:cubicBezTo>
                <a:lnTo>
                  <a:pt x="152497" y="52307"/>
                </a:lnTo>
                <a:cubicBezTo>
                  <a:pt x="157507" y="57317"/>
                  <a:pt x="160304" y="64122"/>
                  <a:pt x="160304" y="71218"/>
                </a:cubicBezTo>
                <a:lnTo>
                  <a:pt x="160304" y="187021"/>
                </a:lnTo>
                <a:cubicBezTo>
                  <a:pt x="160304" y="201757"/>
                  <a:pt x="148323" y="213738"/>
                  <a:pt x="133587" y="213738"/>
                </a:cubicBezTo>
                <a:lnTo>
                  <a:pt x="26717" y="213738"/>
                </a:lnTo>
                <a:cubicBezTo>
                  <a:pt x="11981" y="213738"/>
                  <a:pt x="0" y="201757"/>
                  <a:pt x="0" y="187021"/>
                </a:cubicBezTo>
                <a:lnTo>
                  <a:pt x="0" y="26717"/>
                </a:lnTo>
                <a:close/>
                <a:moveTo>
                  <a:pt x="86831" y="24421"/>
                </a:moveTo>
                <a:lnTo>
                  <a:pt x="86831" y="63454"/>
                </a:lnTo>
                <a:cubicBezTo>
                  <a:pt x="86831" y="69006"/>
                  <a:pt x="91298" y="73473"/>
                  <a:pt x="96850" y="73473"/>
                </a:cubicBezTo>
                <a:lnTo>
                  <a:pt x="135883" y="73473"/>
                </a:lnTo>
                <a:lnTo>
                  <a:pt x="86831" y="24421"/>
                </a:lnTo>
                <a:close/>
                <a:moveTo>
                  <a:pt x="68463" y="111336"/>
                </a:moveTo>
                <a:cubicBezTo>
                  <a:pt x="65374" y="106744"/>
                  <a:pt x="59154" y="105492"/>
                  <a:pt x="54562" y="108539"/>
                </a:cubicBezTo>
                <a:cubicBezTo>
                  <a:pt x="49970" y="111587"/>
                  <a:pt x="48717" y="117848"/>
                  <a:pt x="51765" y="122440"/>
                </a:cubicBezTo>
                <a:lnTo>
                  <a:pt x="68129" y="146945"/>
                </a:lnTo>
                <a:lnTo>
                  <a:pt x="51765" y="171450"/>
                </a:lnTo>
                <a:cubicBezTo>
                  <a:pt x="48676" y="176042"/>
                  <a:pt x="49928" y="182262"/>
                  <a:pt x="54562" y="185351"/>
                </a:cubicBezTo>
                <a:cubicBezTo>
                  <a:pt x="59196" y="188441"/>
                  <a:pt x="65374" y="187188"/>
                  <a:pt x="68463" y="182554"/>
                </a:cubicBezTo>
                <a:lnTo>
                  <a:pt x="80152" y="165021"/>
                </a:lnTo>
                <a:lnTo>
                  <a:pt x="91841" y="182554"/>
                </a:lnTo>
                <a:cubicBezTo>
                  <a:pt x="94930" y="187146"/>
                  <a:pt x="101150" y="188399"/>
                  <a:pt x="105742" y="185351"/>
                </a:cubicBezTo>
                <a:cubicBezTo>
                  <a:pt x="110334" y="182304"/>
                  <a:pt x="111587" y="176042"/>
                  <a:pt x="108539" y="171450"/>
                </a:cubicBezTo>
                <a:lnTo>
                  <a:pt x="92175" y="146945"/>
                </a:lnTo>
                <a:lnTo>
                  <a:pt x="108539" y="122440"/>
                </a:lnTo>
                <a:cubicBezTo>
                  <a:pt x="111628" y="117848"/>
                  <a:pt x="110376" y="111628"/>
                  <a:pt x="105742" y="108539"/>
                </a:cubicBezTo>
                <a:cubicBezTo>
                  <a:pt x="101108" y="105450"/>
                  <a:pt x="94930" y="106702"/>
                  <a:pt x="91841" y="111336"/>
                </a:cubicBezTo>
                <a:lnTo>
                  <a:pt x="80152" y="128869"/>
                </a:lnTo>
                <a:lnTo>
                  <a:pt x="68463" y="111336"/>
                </a:ln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4678" y="5991803"/>
            <a:ext cx="801519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Disconnected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411787" y="5689007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174845" y="96920"/>
                </a:moveTo>
                <a:cubicBezTo>
                  <a:pt x="179194" y="92571"/>
                  <a:pt x="179194" y="85509"/>
                  <a:pt x="174845" y="81161"/>
                </a:cubicBezTo>
                <a:lnTo>
                  <a:pt x="119184" y="25500"/>
                </a:lnTo>
                <a:cubicBezTo>
                  <a:pt x="114836" y="21151"/>
                  <a:pt x="107774" y="21151"/>
                  <a:pt x="103425" y="25500"/>
                </a:cubicBezTo>
                <a:cubicBezTo>
                  <a:pt x="99077" y="29848"/>
                  <a:pt x="99077" y="36910"/>
                  <a:pt x="103425" y="41259"/>
                </a:cubicBezTo>
                <a:lnTo>
                  <a:pt x="140092" y="77925"/>
                </a:lnTo>
                <a:lnTo>
                  <a:pt x="11132" y="77925"/>
                </a:lnTo>
                <a:cubicBezTo>
                  <a:pt x="4975" y="77925"/>
                  <a:pt x="0" y="82900"/>
                  <a:pt x="0" y="89058"/>
                </a:cubicBezTo>
                <a:cubicBezTo>
                  <a:pt x="0" y="95215"/>
                  <a:pt x="4975" y="100190"/>
                  <a:pt x="11132" y="100190"/>
                </a:cubicBezTo>
                <a:lnTo>
                  <a:pt x="140092" y="100190"/>
                </a:lnTo>
                <a:lnTo>
                  <a:pt x="103425" y="136857"/>
                </a:lnTo>
                <a:cubicBezTo>
                  <a:pt x="99077" y="141205"/>
                  <a:pt x="99077" y="148267"/>
                  <a:pt x="103425" y="152616"/>
                </a:cubicBezTo>
                <a:cubicBezTo>
                  <a:pt x="107774" y="156964"/>
                  <a:pt x="114836" y="156964"/>
                  <a:pt x="119184" y="152616"/>
                </a:cubicBezTo>
                <a:lnTo>
                  <a:pt x="174845" y="96955"/>
                </a:ln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761784" y="5215220"/>
            <a:ext cx="699994" cy="699994"/>
          </a:xfrm>
          <a:custGeom>
            <a:avLst/>
            <a:gdLst/>
            <a:ahLst/>
            <a:cxnLst/>
            <a:rect l="l" t="t" r="r" b="b"/>
            <a:pathLst>
              <a:path w="699994" h="699994">
                <a:moveTo>
                  <a:pt x="71245" y="0"/>
                </a:moveTo>
                <a:lnTo>
                  <a:pt x="628748" y="0"/>
                </a:lnTo>
                <a:cubicBezTo>
                  <a:pt x="668096" y="0"/>
                  <a:pt x="699994" y="31898"/>
                  <a:pt x="699994" y="71245"/>
                </a:cubicBezTo>
                <a:lnTo>
                  <a:pt x="699994" y="628748"/>
                </a:lnTo>
                <a:cubicBezTo>
                  <a:pt x="699994" y="668096"/>
                  <a:pt x="668096" y="699994"/>
                  <a:pt x="628748" y="699994"/>
                </a:cubicBezTo>
                <a:lnTo>
                  <a:pt x="71245" y="699994"/>
                </a:lnTo>
                <a:cubicBezTo>
                  <a:pt x="31898" y="699994"/>
                  <a:pt x="0" y="668096"/>
                  <a:pt x="0" y="628748"/>
                </a:cubicBezTo>
                <a:lnTo>
                  <a:pt x="0" y="71245"/>
                </a:lnTo>
                <a:cubicBezTo>
                  <a:pt x="0" y="31898"/>
                  <a:pt x="31898" y="0"/>
                  <a:pt x="7124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004021" y="5457457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26717" y="26717"/>
                </a:moveTo>
                <a:cubicBezTo>
                  <a:pt x="26717" y="19328"/>
                  <a:pt x="20748" y="13359"/>
                  <a:pt x="13359" y="13359"/>
                </a:cubicBezTo>
                <a:cubicBezTo>
                  <a:pt x="5970" y="13359"/>
                  <a:pt x="0" y="19328"/>
                  <a:pt x="0" y="26717"/>
                </a:cubicBezTo>
                <a:lnTo>
                  <a:pt x="0" y="166983"/>
                </a:lnTo>
                <a:cubicBezTo>
                  <a:pt x="0" y="185435"/>
                  <a:pt x="14945" y="200380"/>
                  <a:pt x="33397" y="200380"/>
                </a:cubicBezTo>
                <a:lnTo>
                  <a:pt x="200380" y="200380"/>
                </a:lnTo>
                <a:cubicBezTo>
                  <a:pt x="207769" y="200380"/>
                  <a:pt x="213738" y="194410"/>
                  <a:pt x="213738" y="187021"/>
                </a:cubicBezTo>
                <a:cubicBezTo>
                  <a:pt x="213738" y="179632"/>
                  <a:pt x="207769" y="173663"/>
                  <a:pt x="200380" y="173663"/>
                </a:cubicBezTo>
                <a:lnTo>
                  <a:pt x="33397" y="173663"/>
                </a:lnTo>
                <a:cubicBezTo>
                  <a:pt x="29723" y="173663"/>
                  <a:pt x="26717" y="170657"/>
                  <a:pt x="26717" y="166983"/>
                </a:cubicBezTo>
                <a:lnTo>
                  <a:pt x="26717" y="26717"/>
                </a:lnTo>
                <a:close/>
                <a:moveTo>
                  <a:pt x="196456" y="62869"/>
                </a:moveTo>
                <a:cubicBezTo>
                  <a:pt x="201674" y="57651"/>
                  <a:pt x="201674" y="49177"/>
                  <a:pt x="196456" y="43958"/>
                </a:cubicBezTo>
                <a:cubicBezTo>
                  <a:pt x="191238" y="38740"/>
                  <a:pt x="182763" y="38740"/>
                  <a:pt x="177545" y="43958"/>
                </a:cubicBezTo>
                <a:lnTo>
                  <a:pt x="133587" y="87958"/>
                </a:lnTo>
                <a:lnTo>
                  <a:pt x="109624" y="64038"/>
                </a:lnTo>
                <a:cubicBezTo>
                  <a:pt x="104406" y="58820"/>
                  <a:pt x="95932" y="58820"/>
                  <a:pt x="90714" y="64038"/>
                </a:cubicBezTo>
                <a:lnTo>
                  <a:pt x="50638" y="104114"/>
                </a:lnTo>
                <a:cubicBezTo>
                  <a:pt x="45419" y="109332"/>
                  <a:pt x="45419" y="117807"/>
                  <a:pt x="50638" y="123025"/>
                </a:cubicBezTo>
                <a:cubicBezTo>
                  <a:pt x="55856" y="128243"/>
                  <a:pt x="64330" y="128243"/>
                  <a:pt x="69549" y="123025"/>
                </a:cubicBezTo>
                <a:lnTo>
                  <a:pt x="100190" y="92383"/>
                </a:lnTo>
                <a:lnTo>
                  <a:pt x="124152" y="116346"/>
                </a:lnTo>
                <a:cubicBezTo>
                  <a:pt x="129370" y="121564"/>
                  <a:pt x="137845" y="121564"/>
                  <a:pt x="143063" y="116346"/>
                </a:cubicBezTo>
                <a:lnTo>
                  <a:pt x="196497" y="62911"/>
                </a:ln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723489" y="5991803"/>
            <a:ext cx="77480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05351" y="5493080"/>
            <a:ext cx="8906" cy="569969"/>
          </a:xfrm>
          <a:custGeom>
            <a:avLst/>
            <a:gdLst/>
            <a:ahLst/>
            <a:cxnLst/>
            <a:rect l="l" t="t" r="r" b="b"/>
            <a:pathLst>
              <a:path w="8906" h="569969">
                <a:moveTo>
                  <a:pt x="0" y="0"/>
                </a:moveTo>
                <a:lnTo>
                  <a:pt x="8906" y="0"/>
                </a:lnTo>
                <a:lnTo>
                  <a:pt x="8906" y="569969"/>
                </a:lnTo>
                <a:lnTo>
                  <a:pt x="0" y="569969"/>
                </a:lnTo>
                <a:lnTo>
                  <a:pt x="0" y="0"/>
                </a:lnTo>
                <a:close/>
              </a:path>
            </a:pathLst>
          </a:custGeom>
          <a:solidFill>
            <a:srgbClr val="B88A53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759612" y="5215220"/>
            <a:ext cx="699994" cy="699994"/>
          </a:xfrm>
          <a:custGeom>
            <a:avLst/>
            <a:gdLst/>
            <a:ahLst/>
            <a:cxnLst/>
            <a:rect l="l" t="t" r="r" b="b"/>
            <a:pathLst>
              <a:path w="699994" h="699994">
                <a:moveTo>
                  <a:pt x="71245" y="0"/>
                </a:moveTo>
                <a:lnTo>
                  <a:pt x="628748" y="0"/>
                </a:lnTo>
                <a:cubicBezTo>
                  <a:pt x="668096" y="0"/>
                  <a:pt x="699994" y="31898"/>
                  <a:pt x="699994" y="71245"/>
                </a:cubicBezTo>
                <a:lnTo>
                  <a:pt x="699994" y="628748"/>
                </a:lnTo>
                <a:cubicBezTo>
                  <a:pt x="699994" y="668096"/>
                  <a:pt x="668096" y="699994"/>
                  <a:pt x="628748" y="699994"/>
                </a:cubicBezTo>
                <a:lnTo>
                  <a:pt x="71245" y="699994"/>
                </a:lnTo>
                <a:cubicBezTo>
                  <a:pt x="31898" y="699994"/>
                  <a:pt x="0" y="668096"/>
                  <a:pt x="0" y="628748"/>
                </a:cubicBezTo>
                <a:lnTo>
                  <a:pt x="0" y="71245"/>
                </a:lnTo>
                <a:cubicBezTo>
                  <a:pt x="0" y="31898"/>
                  <a:pt x="31898" y="0"/>
                  <a:pt x="71245" y="0"/>
                </a:cubicBezTo>
                <a:close/>
              </a:path>
            </a:pathLst>
          </a:custGeom>
          <a:solidFill>
            <a:srgbClr val="B88A53">
              <a:alpha val="3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001849" y="5457457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50095" y="23378"/>
                </a:moveTo>
                <a:cubicBezTo>
                  <a:pt x="50095" y="10478"/>
                  <a:pt x="60573" y="0"/>
                  <a:pt x="73473" y="0"/>
                </a:cubicBezTo>
                <a:lnTo>
                  <a:pt x="83492" y="0"/>
                </a:lnTo>
                <a:cubicBezTo>
                  <a:pt x="90881" y="0"/>
                  <a:pt x="96850" y="5970"/>
                  <a:pt x="96850" y="13359"/>
                </a:cubicBezTo>
                <a:lnTo>
                  <a:pt x="96850" y="200380"/>
                </a:lnTo>
                <a:cubicBezTo>
                  <a:pt x="96850" y="207769"/>
                  <a:pt x="90881" y="213738"/>
                  <a:pt x="83492" y="213738"/>
                </a:cubicBezTo>
                <a:lnTo>
                  <a:pt x="70133" y="213738"/>
                </a:lnTo>
                <a:cubicBezTo>
                  <a:pt x="57693" y="213738"/>
                  <a:pt x="47214" y="205222"/>
                  <a:pt x="44251" y="193701"/>
                </a:cubicBezTo>
                <a:cubicBezTo>
                  <a:pt x="43958" y="193701"/>
                  <a:pt x="43708" y="193701"/>
                  <a:pt x="43416" y="193701"/>
                </a:cubicBezTo>
                <a:cubicBezTo>
                  <a:pt x="24964" y="193701"/>
                  <a:pt x="10019" y="178756"/>
                  <a:pt x="10019" y="160304"/>
                </a:cubicBezTo>
                <a:cubicBezTo>
                  <a:pt x="10019" y="152790"/>
                  <a:pt x="12524" y="145860"/>
                  <a:pt x="16698" y="140266"/>
                </a:cubicBezTo>
                <a:cubicBezTo>
                  <a:pt x="8600" y="134171"/>
                  <a:pt x="3340" y="124486"/>
                  <a:pt x="3340" y="113549"/>
                </a:cubicBezTo>
                <a:cubicBezTo>
                  <a:pt x="3340" y="100649"/>
                  <a:pt x="10687" y="89420"/>
                  <a:pt x="21374" y="83867"/>
                </a:cubicBezTo>
                <a:cubicBezTo>
                  <a:pt x="18410" y="78858"/>
                  <a:pt x="16698" y="73013"/>
                  <a:pt x="16698" y="66793"/>
                </a:cubicBezTo>
                <a:cubicBezTo>
                  <a:pt x="16698" y="48342"/>
                  <a:pt x="31643" y="33397"/>
                  <a:pt x="50095" y="33397"/>
                </a:cubicBezTo>
                <a:lnTo>
                  <a:pt x="50095" y="23378"/>
                </a:lnTo>
                <a:close/>
                <a:moveTo>
                  <a:pt x="163644" y="23378"/>
                </a:moveTo>
                <a:lnTo>
                  <a:pt x="163644" y="33397"/>
                </a:lnTo>
                <a:cubicBezTo>
                  <a:pt x="182095" y="33397"/>
                  <a:pt x="197040" y="48342"/>
                  <a:pt x="197040" y="66793"/>
                </a:cubicBezTo>
                <a:cubicBezTo>
                  <a:pt x="197040" y="73055"/>
                  <a:pt x="195329" y="78900"/>
                  <a:pt x="192365" y="83867"/>
                </a:cubicBezTo>
                <a:cubicBezTo>
                  <a:pt x="203093" y="89420"/>
                  <a:pt x="210399" y="100607"/>
                  <a:pt x="210399" y="113549"/>
                </a:cubicBezTo>
                <a:cubicBezTo>
                  <a:pt x="210399" y="124486"/>
                  <a:pt x="205139" y="134171"/>
                  <a:pt x="197040" y="140266"/>
                </a:cubicBezTo>
                <a:cubicBezTo>
                  <a:pt x="201215" y="145860"/>
                  <a:pt x="203720" y="152790"/>
                  <a:pt x="203720" y="160304"/>
                </a:cubicBezTo>
                <a:cubicBezTo>
                  <a:pt x="203720" y="178756"/>
                  <a:pt x="188775" y="193701"/>
                  <a:pt x="170323" y="193701"/>
                </a:cubicBezTo>
                <a:cubicBezTo>
                  <a:pt x="170031" y="193701"/>
                  <a:pt x="169780" y="193701"/>
                  <a:pt x="169488" y="193701"/>
                </a:cubicBezTo>
                <a:cubicBezTo>
                  <a:pt x="166524" y="205222"/>
                  <a:pt x="156046" y="213738"/>
                  <a:pt x="143606" y="213738"/>
                </a:cubicBezTo>
                <a:lnTo>
                  <a:pt x="130247" y="213738"/>
                </a:lnTo>
                <a:cubicBezTo>
                  <a:pt x="122858" y="213738"/>
                  <a:pt x="116888" y="207769"/>
                  <a:pt x="116888" y="200380"/>
                </a:cubicBezTo>
                <a:lnTo>
                  <a:pt x="116888" y="13359"/>
                </a:lnTo>
                <a:cubicBezTo>
                  <a:pt x="116888" y="5970"/>
                  <a:pt x="122858" y="0"/>
                  <a:pt x="130247" y="0"/>
                </a:cubicBezTo>
                <a:lnTo>
                  <a:pt x="140266" y="0"/>
                </a:lnTo>
                <a:cubicBezTo>
                  <a:pt x="153165" y="0"/>
                  <a:pt x="163644" y="10478"/>
                  <a:pt x="163644" y="23378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721317" y="5991803"/>
            <a:ext cx="77480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629706" y="5689007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174845" y="96920"/>
                </a:moveTo>
                <a:cubicBezTo>
                  <a:pt x="179194" y="92571"/>
                  <a:pt x="179194" y="85509"/>
                  <a:pt x="174845" y="81161"/>
                </a:cubicBezTo>
                <a:lnTo>
                  <a:pt x="119184" y="25500"/>
                </a:lnTo>
                <a:cubicBezTo>
                  <a:pt x="114836" y="21151"/>
                  <a:pt x="107774" y="21151"/>
                  <a:pt x="103425" y="25500"/>
                </a:cubicBezTo>
                <a:cubicBezTo>
                  <a:pt x="99077" y="29848"/>
                  <a:pt x="99077" y="36910"/>
                  <a:pt x="103425" y="41259"/>
                </a:cubicBezTo>
                <a:lnTo>
                  <a:pt x="140092" y="77925"/>
                </a:lnTo>
                <a:lnTo>
                  <a:pt x="11132" y="77925"/>
                </a:lnTo>
                <a:cubicBezTo>
                  <a:pt x="4975" y="77925"/>
                  <a:pt x="0" y="82900"/>
                  <a:pt x="0" y="89058"/>
                </a:cubicBezTo>
                <a:cubicBezTo>
                  <a:pt x="0" y="95215"/>
                  <a:pt x="4975" y="100190"/>
                  <a:pt x="11132" y="100190"/>
                </a:cubicBezTo>
                <a:lnTo>
                  <a:pt x="140092" y="100190"/>
                </a:lnTo>
                <a:lnTo>
                  <a:pt x="103425" y="136857"/>
                </a:lnTo>
                <a:cubicBezTo>
                  <a:pt x="99077" y="141205"/>
                  <a:pt x="99077" y="148267"/>
                  <a:pt x="103425" y="152616"/>
                </a:cubicBezTo>
                <a:cubicBezTo>
                  <a:pt x="107774" y="156964"/>
                  <a:pt x="114836" y="156964"/>
                  <a:pt x="119184" y="152616"/>
                </a:cubicBezTo>
                <a:lnTo>
                  <a:pt x="174845" y="96955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0979703" y="5215220"/>
            <a:ext cx="699994" cy="699994"/>
          </a:xfrm>
          <a:custGeom>
            <a:avLst/>
            <a:gdLst/>
            <a:ahLst/>
            <a:cxnLst/>
            <a:rect l="l" t="t" r="r" b="b"/>
            <a:pathLst>
              <a:path w="699994" h="699994">
                <a:moveTo>
                  <a:pt x="71245" y="0"/>
                </a:moveTo>
                <a:lnTo>
                  <a:pt x="628748" y="0"/>
                </a:lnTo>
                <a:cubicBezTo>
                  <a:pt x="668096" y="0"/>
                  <a:pt x="699994" y="31898"/>
                  <a:pt x="699994" y="71245"/>
                </a:cubicBezTo>
                <a:lnTo>
                  <a:pt x="699994" y="628748"/>
                </a:lnTo>
                <a:cubicBezTo>
                  <a:pt x="699994" y="668096"/>
                  <a:pt x="668096" y="699994"/>
                  <a:pt x="628748" y="699994"/>
                </a:cubicBezTo>
                <a:lnTo>
                  <a:pt x="71245" y="699994"/>
                </a:lnTo>
                <a:cubicBezTo>
                  <a:pt x="31898" y="699994"/>
                  <a:pt x="0" y="668096"/>
                  <a:pt x="0" y="628748"/>
                </a:cubicBezTo>
                <a:lnTo>
                  <a:pt x="0" y="71245"/>
                </a:lnTo>
                <a:cubicBezTo>
                  <a:pt x="0" y="31898"/>
                  <a:pt x="31898" y="0"/>
                  <a:pt x="71245" y="0"/>
                </a:cubicBezTo>
                <a:close/>
              </a:path>
            </a:pathLst>
          </a:custGeom>
          <a:solidFill>
            <a:srgbClr val="B88A53">
              <a:alpha val="3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1208581" y="5457457"/>
            <a:ext cx="240456" cy="213738"/>
          </a:xfrm>
          <a:custGeom>
            <a:avLst/>
            <a:gdLst/>
            <a:ahLst/>
            <a:cxnLst/>
            <a:rect l="l" t="t" r="r" b="b"/>
            <a:pathLst>
              <a:path w="240456" h="213738">
                <a:moveTo>
                  <a:pt x="120228" y="13359"/>
                </a:moveTo>
                <a:cubicBezTo>
                  <a:pt x="86497" y="13359"/>
                  <a:pt x="59488" y="28721"/>
                  <a:pt x="39825" y="47006"/>
                </a:cubicBezTo>
                <a:cubicBezTo>
                  <a:pt x="20288" y="65165"/>
                  <a:pt x="7222" y="86831"/>
                  <a:pt x="1002" y="101735"/>
                </a:cubicBezTo>
                <a:cubicBezTo>
                  <a:pt x="-376" y="105032"/>
                  <a:pt x="-376" y="108706"/>
                  <a:pt x="1002" y="112004"/>
                </a:cubicBezTo>
                <a:cubicBezTo>
                  <a:pt x="7222" y="126907"/>
                  <a:pt x="20288" y="148615"/>
                  <a:pt x="39825" y="166733"/>
                </a:cubicBezTo>
                <a:cubicBezTo>
                  <a:pt x="59488" y="184976"/>
                  <a:pt x="86497" y="200380"/>
                  <a:pt x="120228" y="200380"/>
                </a:cubicBezTo>
                <a:cubicBezTo>
                  <a:pt x="153959" y="200380"/>
                  <a:pt x="180968" y="185017"/>
                  <a:pt x="200630" y="166733"/>
                </a:cubicBezTo>
                <a:cubicBezTo>
                  <a:pt x="220167" y="148573"/>
                  <a:pt x="233234" y="126907"/>
                  <a:pt x="239454" y="112004"/>
                </a:cubicBezTo>
                <a:cubicBezTo>
                  <a:pt x="240832" y="108706"/>
                  <a:pt x="240832" y="105032"/>
                  <a:pt x="239454" y="101735"/>
                </a:cubicBezTo>
                <a:cubicBezTo>
                  <a:pt x="233234" y="86831"/>
                  <a:pt x="220167" y="65123"/>
                  <a:pt x="200630" y="47006"/>
                </a:cubicBezTo>
                <a:cubicBezTo>
                  <a:pt x="180968" y="28763"/>
                  <a:pt x="153959" y="13359"/>
                  <a:pt x="120228" y="13359"/>
                </a:cubicBezTo>
                <a:close/>
                <a:moveTo>
                  <a:pt x="60114" y="106869"/>
                </a:moveTo>
                <a:cubicBezTo>
                  <a:pt x="60114" y="73691"/>
                  <a:pt x="87050" y="46755"/>
                  <a:pt x="120228" y="46755"/>
                </a:cubicBezTo>
                <a:cubicBezTo>
                  <a:pt x="153406" y="46755"/>
                  <a:pt x="180342" y="73691"/>
                  <a:pt x="180342" y="106869"/>
                </a:cubicBezTo>
                <a:cubicBezTo>
                  <a:pt x="180342" y="140047"/>
                  <a:pt x="153406" y="166983"/>
                  <a:pt x="120228" y="166983"/>
                </a:cubicBezTo>
                <a:cubicBezTo>
                  <a:pt x="87050" y="166983"/>
                  <a:pt x="60114" y="140047"/>
                  <a:pt x="60114" y="106869"/>
                </a:cubicBezTo>
                <a:close/>
                <a:moveTo>
                  <a:pt x="120228" y="80152"/>
                </a:moveTo>
                <a:cubicBezTo>
                  <a:pt x="120228" y="94888"/>
                  <a:pt x="108247" y="106869"/>
                  <a:pt x="93511" y="106869"/>
                </a:cubicBezTo>
                <a:cubicBezTo>
                  <a:pt x="88710" y="106869"/>
                  <a:pt x="84201" y="105617"/>
                  <a:pt x="80277" y="103363"/>
                </a:cubicBezTo>
                <a:cubicBezTo>
                  <a:pt x="79860" y="107913"/>
                  <a:pt x="80235" y="112588"/>
                  <a:pt x="81488" y="117222"/>
                </a:cubicBezTo>
                <a:cubicBezTo>
                  <a:pt x="87207" y="138596"/>
                  <a:pt x="109207" y="151287"/>
                  <a:pt x="130581" y="145568"/>
                </a:cubicBezTo>
                <a:cubicBezTo>
                  <a:pt x="151955" y="139848"/>
                  <a:pt x="164645" y="117848"/>
                  <a:pt x="158926" y="96475"/>
                </a:cubicBezTo>
                <a:cubicBezTo>
                  <a:pt x="153833" y="77397"/>
                  <a:pt x="135757" y="65249"/>
                  <a:pt x="116721" y="66919"/>
                </a:cubicBezTo>
                <a:cubicBezTo>
                  <a:pt x="118934" y="70801"/>
                  <a:pt x="120228" y="75309"/>
                  <a:pt x="120228" y="80152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0941408" y="5991803"/>
            <a:ext cx="77480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38138" y="3810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0100" y="514350"/>
            <a:ext cx="9906000" cy="38100"/>
          </a:xfrm>
          <a:custGeom>
            <a:avLst/>
            <a:gdLst/>
            <a:ahLst/>
            <a:cxnLst/>
            <a:rect l="l" t="t" r="r" b="b"/>
            <a:pathLst>
              <a:path w="9906000" h="38100">
                <a:moveTo>
                  <a:pt x="0" y="0"/>
                </a:moveTo>
                <a:lnTo>
                  <a:pt x="9906000" y="0"/>
                </a:lnTo>
                <a:lnTo>
                  <a:pt x="9906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824924" y="4381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001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Can't Fix What You Can't See"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4478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critical failures in current clinical data management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" y="1836420"/>
            <a:ext cx="5606415" cy="3168015"/>
          </a:xfrm>
          <a:custGeom>
            <a:avLst/>
            <a:gdLst/>
            <a:ahLst/>
            <a:cxnLst/>
            <a:rect l="l" t="t" r="r" b="b"/>
            <a:pathLst>
              <a:path w="5606415" h="3168015">
                <a:moveTo>
                  <a:pt x="76191" y="0"/>
                </a:moveTo>
                <a:lnTo>
                  <a:pt x="5530224" y="0"/>
                </a:lnTo>
                <a:cubicBezTo>
                  <a:pt x="5572303" y="0"/>
                  <a:pt x="5606415" y="34112"/>
                  <a:pt x="5606415" y="76191"/>
                </a:cubicBezTo>
                <a:lnTo>
                  <a:pt x="5606415" y="3091824"/>
                </a:lnTo>
                <a:cubicBezTo>
                  <a:pt x="5606415" y="3133903"/>
                  <a:pt x="5572303" y="3168015"/>
                  <a:pt x="5530224" y="3168015"/>
                </a:cubicBezTo>
                <a:lnTo>
                  <a:pt x="76191" y="3168015"/>
                </a:lnTo>
                <a:cubicBezTo>
                  <a:pt x="34112" y="3168015"/>
                  <a:pt x="0" y="3133903"/>
                  <a:pt x="0" y="309182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19964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1040" y="2148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96340" y="1996440"/>
            <a:ext cx="2676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1: Fragmentation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6340" y="2301121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Naming Nightmare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2682240"/>
            <a:ext cx="532161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1 calls it "Region", Study 2 calls it "Reg", Study 3 calls it "Geographic_Area".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006090"/>
            <a:ext cx="386048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same data lives under different names across studies.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53740"/>
            <a:ext cx="5286375" cy="990600"/>
          </a:xfrm>
          <a:custGeom>
            <a:avLst/>
            <a:gdLst/>
            <a:ahLst/>
            <a:cxnLst/>
            <a:rect l="l" t="t" r="r" b="b"/>
            <a:pathLst>
              <a:path w="5286375" h="990600">
                <a:moveTo>
                  <a:pt x="76197" y="0"/>
                </a:moveTo>
                <a:lnTo>
                  <a:pt x="5210178" y="0"/>
                </a:lnTo>
                <a:cubicBezTo>
                  <a:pt x="5252260" y="0"/>
                  <a:pt x="5286375" y="34115"/>
                  <a:pt x="5286375" y="76197"/>
                </a:cubicBezTo>
                <a:lnTo>
                  <a:pt x="5286375" y="914403"/>
                </a:lnTo>
                <a:cubicBezTo>
                  <a:pt x="5286375" y="956485"/>
                  <a:pt x="5252260" y="990600"/>
                  <a:pt x="5210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2940" y="3398520"/>
            <a:ext cx="8920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Impact: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" y="3672840"/>
            <a:ext cx="5133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Merging these manually takes </a:t>
            </a: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of manual effort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delaying analysis and creating human error.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4415672"/>
            <a:ext cx="1674495" cy="426720"/>
          </a:xfrm>
          <a:custGeom>
            <a:avLst/>
            <a:gdLst/>
            <a:ahLst/>
            <a:cxnLst/>
            <a:rect l="l" t="t" r="r" b="b"/>
            <a:pathLst>
              <a:path w="1674495" h="426720">
                <a:moveTo>
                  <a:pt x="38102" y="0"/>
                </a:moveTo>
                <a:lnTo>
                  <a:pt x="1636393" y="0"/>
                </a:lnTo>
                <a:cubicBezTo>
                  <a:pt x="1657436" y="0"/>
                  <a:pt x="1674495" y="17059"/>
                  <a:pt x="1674495" y="38102"/>
                </a:cubicBezTo>
                <a:lnTo>
                  <a:pt x="1674495" y="388618"/>
                </a:lnTo>
                <a:cubicBezTo>
                  <a:pt x="1674495" y="409661"/>
                  <a:pt x="1657436" y="426720"/>
                  <a:pt x="1636393" y="426720"/>
                </a:cubicBezTo>
                <a:lnTo>
                  <a:pt x="38102" y="426720"/>
                </a:lnTo>
                <a:cubicBezTo>
                  <a:pt x="17059" y="426720"/>
                  <a:pt x="0" y="409661"/>
                  <a:pt x="0" y="3886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89598" y="449568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Site_ID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352080" y="4415672"/>
            <a:ext cx="1674495" cy="426720"/>
          </a:xfrm>
          <a:custGeom>
            <a:avLst/>
            <a:gdLst/>
            <a:ahLst/>
            <a:cxnLst/>
            <a:rect l="l" t="t" r="r" b="b"/>
            <a:pathLst>
              <a:path w="1674495" h="426720">
                <a:moveTo>
                  <a:pt x="38102" y="0"/>
                </a:moveTo>
                <a:lnTo>
                  <a:pt x="1636393" y="0"/>
                </a:lnTo>
                <a:cubicBezTo>
                  <a:pt x="1657436" y="0"/>
                  <a:pt x="1674495" y="17059"/>
                  <a:pt x="1674495" y="38102"/>
                </a:cubicBezTo>
                <a:lnTo>
                  <a:pt x="1674495" y="388618"/>
                </a:lnTo>
                <a:cubicBezTo>
                  <a:pt x="1674495" y="409661"/>
                  <a:pt x="1657436" y="426720"/>
                  <a:pt x="1636393" y="426720"/>
                </a:cubicBezTo>
                <a:lnTo>
                  <a:pt x="38102" y="426720"/>
                </a:lnTo>
                <a:cubicBezTo>
                  <a:pt x="17059" y="426720"/>
                  <a:pt x="0" y="409661"/>
                  <a:pt x="0" y="3886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389227" y="449568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SiteNumber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51709" y="4415672"/>
            <a:ext cx="1674495" cy="426720"/>
          </a:xfrm>
          <a:custGeom>
            <a:avLst/>
            <a:gdLst/>
            <a:ahLst/>
            <a:cxnLst/>
            <a:rect l="l" t="t" r="r" b="b"/>
            <a:pathLst>
              <a:path w="1674495" h="426720">
                <a:moveTo>
                  <a:pt x="38102" y="0"/>
                </a:moveTo>
                <a:lnTo>
                  <a:pt x="1636393" y="0"/>
                </a:lnTo>
                <a:cubicBezTo>
                  <a:pt x="1657436" y="0"/>
                  <a:pt x="1674495" y="17059"/>
                  <a:pt x="1674495" y="38102"/>
                </a:cubicBezTo>
                <a:lnTo>
                  <a:pt x="1674495" y="388618"/>
                </a:lnTo>
                <a:cubicBezTo>
                  <a:pt x="1674495" y="409661"/>
                  <a:pt x="1657436" y="426720"/>
                  <a:pt x="1636393" y="426720"/>
                </a:cubicBezTo>
                <a:lnTo>
                  <a:pt x="38102" y="426720"/>
                </a:lnTo>
                <a:cubicBezTo>
                  <a:pt x="17059" y="426720"/>
                  <a:pt x="0" y="409661"/>
                  <a:pt x="0" y="3886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88857" y="449568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 #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8870" y="1836420"/>
            <a:ext cx="5606415" cy="3168015"/>
          </a:xfrm>
          <a:custGeom>
            <a:avLst/>
            <a:gdLst/>
            <a:ahLst/>
            <a:cxnLst/>
            <a:rect l="l" t="t" r="r" b="b"/>
            <a:pathLst>
              <a:path w="5606415" h="3168015">
                <a:moveTo>
                  <a:pt x="76191" y="0"/>
                </a:moveTo>
                <a:lnTo>
                  <a:pt x="5530224" y="0"/>
                </a:lnTo>
                <a:cubicBezTo>
                  <a:pt x="5572303" y="0"/>
                  <a:pt x="5606415" y="34112"/>
                  <a:pt x="5606415" y="76191"/>
                </a:cubicBezTo>
                <a:lnTo>
                  <a:pt x="5606415" y="3091824"/>
                </a:lnTo>
                <a:cubicBezTo>
                  <a:pt x="5606415" y="3133903"/>
                  <a:pt x="5572303" y="3168015"/>
                  <a:pt x="5530224" y="3168015"/>
                </a:cubicBezTo>
                <a:lnTo>
                  <a:pt x="76191" y="3168015"/>
                </a:lnTo>
                <a:cubicBezTo>
                  <a:pt x="34112" y="3168015"/>
                  <a:pt x="0" y="3133903"/>
                  <a:pt x="0" y="309182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 w="20320">
            <a:solidFill>
              <a:srgbClr val="7D8A9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58890" y="19964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97003" y="214884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006590" y="1996440"/>
            <a:ext cx="3152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2: The "Hiding" Signal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06590" y="2301121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Invisible Safety Signals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8890" y="2682240"/>
            <a:ext cx="46726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safety signal might appear 2 times in Study A and 2 times in Study B.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8890" y="2929890"/>
            <a:ext cx="32898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Individually, they look fine. Globally, it's a cluster.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8890" y="3253740"/>
            <a:ext cx="5286375" cy="762000"/>
          </a:xfrm>
          <a:custGeom>
            <a:avLst/>
            <a:gdLst/>
            <a:ahLst/>
            <a:cxnLst/>
            <a:rect l="l" t="t" r="r" b="b"/>
            <a:pathLst>
              <a:path w="5286375" h="762000">
                <a:moveTo>
                  <a:pt x="76200" y="0"/>
                </a:moveTo>
                <a:lnTo>
                  <a:pt x="5210175" y="0"/>
                </a:lnTo>
                <a:cubicBezTo>
                  <a:pt x="5252231" y="0"/>
                  <a:pt x="5286375" y="34144"/>
                  <a:pt x="5286375" y="76200"/>
                </a:cubicBezTo>
                <a:lnTo>
                  <a:pt x="5286375" y="685800"/>
                </a:lnTo>
                <a:cubicBezTo>
                  <a:pt x="5286375" y="727856"/>
                  <a:pt x="5252231" y="762000"/>
                  <a:pt x="52101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73190" y="3398520"/>
            <a:ext cx="8920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Impact: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3190" y="3672840"/>
            <a:ext cx="513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safety patterns remain </a:t>
            </a: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invisible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until it's too late.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2700" y="4133850"/>
            <a:ext cx="1436370" cy="712470"/>
          </a:xfrm>
          <a:custGeom>
            <a:avLst/>
            <a:gdLst/>
            <a:ahLst/>
            <a:cxnLst/>
            <a:rect l="l" t="t" r="r" b="b"/>
            <a:pathLst>
              <a:path w="1436370" h="712470">
                <a:moveTo>
                  <a:pt x="38103" y="0"/>
                </a:moveTo>
                <a:lnTo>
                  <a:pt x="1398267" y="0"/>
                </a:lnTo>
                <a:cubicBezTo>
                  <a:pt x="1419311" y="0"/>
                  <a:pt x="1436370" y="17059"/>
                  <a:pt x="1436370" y="38103"/>
                </a:cubicBezTo>
                <a:lnTo>
                  <a:pt x="1436370" y="674367"/>
                </a:lnTo>
                <a:cubicBezTo>
                  <a:pt x="1436370" y="695411"/>
                  <a:pt x="1419311" y="712470"/>
                  <a:pt x="1398267" y="712470"/>
                </a:cubicBezTo>
                <a:lnTo>
                  <a:pt x="38103" y="712470"/>
                </a:lnTo>
                <a:cubicBezTo>
                  <a:pt x="17059" y="712470"/>
                  <a:pt x="0" y="695411"/>
                  <a:pt x="0" y="67436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85560" y="4213860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9373" y="4556642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954209" y="439281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23812"/>
                </a:moveTo>
                <a:cubicBezTo>
                  <a:pt x="95250" y="17227"/>
                  <a:pt x="89929" y="11906"/>
                  <a:pt x="83344" y="11906"/>
                </a:cubicBezTo>
                <a:cubicBezTo>
                  <a:pt x="76758" y="11906"/>
                  <a:pt x="71438" y="17227"/>
                  <a:pt x="71438" y="23812"/>
                </a:cubicBezTo>
                <a:lnTo>
                  <a:pt x="71438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71438" y="107156"/>
                </a:lnTo>
                <a:lnTo>
                  <a:pt x="71438" y="166688"/>
                </a:lnTo>
                <a:cubicBezTo>
                  <a:pt x="71438" y="173273"/>
                  <a:pt x="76758" y="178594"/>
                  <a:pt x="83344" y="178594"/>
                </a:cubicBezTo>
                <a:cubicBezTo>
                  <a:pt x="89929" y="178594"/>
                  <a:pt x="95250" y="173273"/>
                  <a:pt x="95250" y="166688"/>
                </a:cubicBezTo>
                <a:lnTo>
                  <a:pt x="95250" y="107156"/>
                </a:lnTo>
                <a:lnTo>
                  <a:pt x="154781" y="107156"/>
                </a:lnTo>
                <a:cubicBezTo>
                  <a:pt x="161367" y="107156"/>
                  <a:pt x="166688" y="101836"/>
                  <a:pt x="166688" y="95250"/>
                </a:cubicBezTo>
                <a:cubicBezTo>
                  <a:pt x="166688" y="88664"/>
                  <a:pt x="161367" y="83344"/>
                  <a:pt x="154781" y="83344"/>
                </a:cubicBezTo>
                <a:lnTo>
                  <a:pt x="95250" y="83344"/>
                </a:lnTo>
                <a:lnTo>
                  <a:pt x="95250" y="23812"/>
                </a:ln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274725" y="4133850"/>
            <a:ext cx="1436370" cy="712470"/>
          </a:xfrm>
          <a:custGeom>
            <a:avLst/>
            <a:gdLst/>
            <a:ahLst/>
            <a:cxnLst/>
            <a:rect l="l" t="t" r="r" b="b"/>
            <a:pathLst>
              <a:path w="1436370" h="712470">
                <a:moveTo>
                  <a:pt x="38103" y="0"/>
                </a:moveTo>
                <a:lnTo>
                  <a:pt x="1398267" y="0"/>
                </a:lnTo>
                <a:cubicBezTo>
                  <a:pt x="1419311" y="0"/>
                  <a:pt x="1436370" y="17059"/>
                  <a:pt x="1436370" y="38103"/>
                </a:cubicBezTo>
                <a:lnTo>
                  <a:pt x="1436370" y="674367"/>
                </a:lnTo>
                <a:cubicBezTo>
                  <a:pt x="1436370" y="695411"/>
                  <a:pt x="1419311" y="712470"/>
                  <a:pt x="1398267" y="712470"/>
                </a:cubicBezTo>
                <a:lnTo>
                  <a:pt x="38103" y="712470"/>
                </a:lnTo>
                <a:cubicBezTo>
                  <a:pt x="17059" y="712470"/>
                  <a:pt x="0" y="695411"/>
                  <a:pt x="0" y="67436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97585" y="4213860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21397" y="4556642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B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854328" y="439281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190560" y="4137660"/>
            <a:ext cx="1443990" cy="701040"/>
          </a:xfrm>
          <a:custGeom>
            <a:avLst/>
            <a:gdLst/>
            <a:ahLst/>
            <a:cxnLst/>
            <a:rect l="l" t="t" r="r" b="b"/>
            <a:pathLst>
              <a:path w="1443990" h="701040">
                <a:moveTo>
                  <a:pt x="38102" y="0"/>
                </a:moveTo>
                <a:lnTo>
                  <a:pt x="1405888" y="0"/>
                </a:lnTo>
                <a:cubicBezTo>
                  <a:pt x="1426931" y="0"/>
                  <a:pt x="1443990" y="17059"/>
                  <a:pt x="1443990" y="38102"/>
                </a:cubicBezTo>
                <a:lnTo>
                  <a:pt x="1443990" y="662938"/>
                </a:lnTo>
                <a:cubicBezTo>
                  <a:pt x="1443990" y="683981"/>
                  <a:pt x="1426931" y="701040"/>
                  <a:pt x="1405888" y="701040"/>
                </a:cubicBezTo>
                <a:lnTo>
                  <a:pt x="38102" y="701040"/>
                </a:lnTo>
                <a:cubicBezTo>
                  <a:pt x="17059" y="701040"/>
                  <a:pt x="0" y="683981"/>
                  <a:pt x="0" y="66293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0217230" y="4221481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241042" y="4564262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Signal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8620" y="5135762"/>
            <a:ext cx="11416665" cy="1196340"/>
          </a:xfrm>
          <a:custGeom>
            <a:avLst/>
            <a:gdLst/>
            <a:ahLst/>
            <a:cxnLst/>
            <a:rect l="l" t="t" r="r" b="b"/>
            <a:pathLst>
              <a:path w="11416665" h="1196340">
                <a:moveTo>
                  <a:pt x="76195" y="0"/>
                </a:moveTo>
                <a:lnTo>
                  <a:pt x="11340470" y="0"/>
                </a:lnTo>
                <a:cubicBezTo>
                  <a:pt x="11382551" y="0"/>
                  <a:pt x="11416665" y="34114"/>
                  <a:pt x="11416665" y="76195"/>
                </a:cubicBezTo>
                <a:lnTo>
                  <a:pt x="11416665" y="1120145"/>
                </a:lnTo>
                <a:cubicBezTo>
                  <a:pt x="11416665" y="1162226"/>
                  <a:pt x="11382551" y="1196340"/>
                  <a:pt x="11340470" y="1196340"/>
                </a:cubicBezTo>
                <a:lnTo>
                  <a:pt x="76195" y="1196340"/>
                </a:lnTo>
                <a:cubicBezTo>
                  <a:pt x="34114" y="1196340"/>
                  <a:pt x="0" y="1162226"/>
                  <a:pt x="0" y="112014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48640" y="529578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39140" y="54862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310640" y="5295780"/>
            <a:ext cx="10448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State: Manual Excel checks, missed deadlines, reactive FDA findings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10640" y="5676662"/>
            <a:ext cx="10410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Teams spend weeks on manual data cleaning, often missing critical patterns.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reactive approach leads to missed deadlines, costly delays, and FDA findings that could have been prevented. </a:t>
            </a: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can't fix what you can't see.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81781" y="317500"/>
            <a:ext cx="325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6750" y="428625"/>
            <a:ext cx="10231438" cy="31750"/>
          </a:xfrm>
          <a:custGeom>
            <a:avLst/>
            <a:gdLst/>
            <a:ahLst/>
            <a:cxnLst/>
            <a:rect l="l" t="t" r="r" b="b"/>
            <a:pathLst>
              <a:path w="10231438" h="31750">
                <a:moveTo>
                  <a:pt x="0" y="0"/>
                </a:moveTo>
                <a:lnTo>
                  <a:pt x="10231438" y="0"/>
                </a:lnTo>
                <a:lnTo>
                  <a:pt x="1023143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90858" y="365125"/>
            <a:ext cx="936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698500"/>
            <a:ext cx="1174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 2.0: A Unified "Clinical Data Lake"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500" y="12382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pipelines that autonomously ingest, harmonize, and analyze data from any source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3850" y="1625600"/>
            <a:ext cx="3735388" cy="2949575"/>
          </a:xfrm>
          <a:custGeom>
            <a:avLst/>
            <a:gdLst/>
            <a:ahLst/>
            <a:cxnLst/>
            <a:rect l="l" t="t" r="r" b="b"/>
            <a:pathLst>
              <a:path w="3735388" h="2949575">
                <a:moveTo>
                  <a:pt x="63504" y="0"/>
                </a:moveTo>
                <a:lnTo>
                  <a:pt x="3671883" y="0"/>
                </a:lnTo>
                <a:cubicBezTo>
                  <a:pt x="3706956" y="0"/>
                  <a:pt x="3735388" y="28432"/>
                  <a:pt x="3735388" y="63504"/>
                </a:cubicBezTo>
                <a:lnTo>
                  <a:pt x="3735388" y="2886071"/>
                </a:lnTo>
                <a:cubicBezTo>
                  <a:pt x="3735387" y="2921143"/>
                  <a:pt x="3706956" y="2949575"/>
                  <a:pt x="3671883" y="2949575"/>
                </a:cubicBezTo>
                <a:lnTo>
                  <a:pt x="63504" y="2949575"/>
                </a:lnTo>
                <a:cubicBezTo>
                  <a:pt x="28432" y="2949575"/>
                  <a:pt x="0" y="2921143"/>
                  <a:pt x="0" y="2886071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8950" y="17906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9263" y="179069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1862136"/>
            <a:ext cx="24209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Schema-Agnostic Ingestion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950" y="2266949"/>
            <a:ext cx="34686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 raw files → Auto-Mapping → Global Dataset.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 2.0's agentic pipelines automatically handle any data format, eliminating manual mapping.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1770" y="3044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1356" y="3013074"/>
            <a:ext cx="281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Accepts any file structure (CSV, Excel, JSON, XML)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1770" y="3298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1356" y="3267074"/>
            <a:ext cx="284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field mapping &amp; semantic harmonization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1770" y="3552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1356" y="3521074"/>
            <a:ext cx="156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configuration required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950" y="3838574"/>
            <a:ext cx="3405188" cy="571500"/>
          </a:xfrm>
          <a:custGeom>
            <a:avLst/>
            <a:gdLst/>
            <a:ahLst/>
            <a:cxnLst/>
            <a:rect l="l" t="t" r="r" b="b"/>
            <a:pathLst>
              <a:path w="3405188" h="571500">
                <a:moveTo>
                  <a:pt x="63499" y="0"/>
                </a:moveTo>
                <a:lnTo>
                  <a:pt x="3341688" y="0"/>
                </a:lnTo>
                <a:cubicBezTo>
                  <a:pt x="3376758" y="0"/>
                  <a:pt x="3405188" y="28430"/>
                  <a:pt x="3405188" y="63499"/>
                </a:cubicBezTo>
                <a:lnTo>
                  <a:pt x="3405188" y="508001"/>
                </a:lnTo>
                <a:cubicBezTo>
                  <a:pt x="3405188" y="543070"/>
                  <a:pt x="3376758" y="571500"/>
                  <a:pt x="33416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4200" y="3933824"/>
            <a:ext cx="327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4200" y="4124324"/>
            <a:ext cx="327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weeks to minutes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29100" y="1625600"/>
            <a:ext cx="3735388" cy="2949575"/>
          </a:xfrm>
          <a:custGeom>
            <a:avLst/>
            <a:gdLst/>
            <a:ahLst/>
            <a:cxnLst/>
            <a:rect l="l" t="t" r="r" b="b"/>
            <a:pathLst>
              <a:path w="3735388" h="2949575">
                <a:moveTo>
                  <a:pt x="63504" y="0"/>
                </a:moveTo>
                <a:lnTo>
                  <a:pt x="3671883" y="0"/>
                </a:lnTo>
                <a:cubicBezTo>
                  <a:pt x="3706956" y="0"/>
                  <a:pt x="3735388" y="28432"/>
                  <a:pt x="3735388" y="63504"/>
                </a:cubicBezTo>
                <a:lnTo>
                  <a:pt x="3735388" y="2886071"/>
                </a:lnTo>
                <a:cubicBezTo>
                  <a:pt x="3735387" y="2921143"/>
                  <a:pt x="3706956" y="2949575"/>
                  <a:pt x="3671883" y="2949575"/>
                </a:cubicBezTo>
                <a:lnTo>
                  <a:pt x="63504" y="2949575"/>
                </a:lnTo>
                <a:cubicBezTo>
                  <a:pt x="28432" y="2949575"/>
                  <a:pt x="0" y="2921143"/>
                  <a:pt x="0" y="2886071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94200" y="17906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54513" y="179069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70450" y="1862136"/>
            <a:ext cx="1571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ML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94200" y="2266949"/>
            <a:ext cx="34686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Detecting anomalies without needing labelled "bad data".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 2.0 uses Isolation Forest to learn what 'normal' looks like across your entire portfolio.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17021" y="3044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96607" y="3013074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pre-labelled training data required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7021" y="3298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96607" y="3267074"/>
            <a:ext cx="223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global patterns across all studies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17021" y="3552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96607" y="3521074"/>
            <a:ext cx="237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statistically improbable behavior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94200" y="3838574"/>
            <a:ext cx="3405188" cy="571500"/>
          </a:xfrm>
          <a:custGeom>
            <a:avLst/>
            <a:gdLst/>
            <a:ahLst/>
            <a:cxnLst/>
            <a:rect l="l" t="t" r="r" b="b"/>
            <a:pathLst>
              <a:path w="3405188" h="571500">
                <a:moveTo>
                  <a:pt x="63499" y="0"/>
                </a:moveTo>
                <a:lnTo>
                  <a:pt x="3341688" y="0"/>
                </a:lnTo>
                <a:cubicBezTo>
                  <a:pt x="3376758" y="0"/>
                  <a:pt x="3405188" y="28430"/>
                  <a:pt x="3405188" y="63499"/>
                </a:cubicBezTo>
                <a:lnTo>
                  <a:pt x="3405188" y="508001"/>
                </a:lnTo>
                <a:cubicBezTo>
                  <a:pt x="3405188" y="543070"/>
                  <a:pt x="3376758" y="571500"/>
                  <a:pt x="33416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489450" y="3933824"/>
            <a:ext cx="327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9450" y="4124324"/>
            <a:ext cx="327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34350" y="1625600"/>
            <a:ext cx="3735388" cy="2949575"/>
          </a:xfrm>
          <a:custGeom>
            <a:avLst/>
            <a:gdLst/>
            <a:ahLst/>
            <a:cxnLst/>
            <a:rect l="l" t="t" r="r" b="b"/>
            <a:pathLst>
              <a:path w="3735388" h="2949575">
                <a:moveTo>
                  <a:pt x="63504" y="0"/>
                </a:moveTo>
                <a:lnTo>
                  <a:pt x="3671883" y="0"/>
                </a:lnTo>
                <a:cubicBezTo>
                  <a:pt x="3706956" y="0"/>
                  <a:pt x="3735388" y="28432"/>
                  <a:pt x="3735388" y="63504"/>
                </a:cubicBezTo>
                <a:lnTo>
                  <a:pt x="3735388" y="2886071"/>
                </a:lnTo>
                <a:cubicBezTo>
                  <a:pt x="3735387" y="2921143"/>
                  <a:pt x="3706956" y="2949575"/>
                  <a:pt x="3671883" y="2949575"/>
                </a:cubicBezTo>
                <a:lnTo>
                  <a:pt x="63504" y="2949575"/>
                </a:lnTo>
                <a:cubicBezTo>
                  <a:pt x="28432" y="2949575"/>
                  <a:pt x="0" y="2921143"/>
                  <a:pt x="0" y="2886071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99450" y="17906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259762" y="179069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75700" y="1862136"/>
            <a:ext cx="1238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 AI Safety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99450" y="2266949"/>
            <a:ext cx="34686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 patterns, not just keywords.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 2.0's Gen AI engine understands medical semantics to discover hidden safety signals.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2270" y="3044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501856" y="3013074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expansion for medical synonyms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2270" y="3298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501856" y="3267074"/>
            <a:ext cx="225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discovery beyond simple search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22270" y="3552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501856" y="3521074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Cross-study signal aggregation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99450" y="3838574"/>
            <a:ext cx="3405188" cy="571500"/>
          </a:xfrm>
          <a:custGeom>
            <a:avLst/>
            <a:gdLst/>
            <a:ahLst/>
            <a:cxnLst/>
            <a:rect l="l" t="t" r="r" b="b"/>
            <a:pathLst>
              <a:path w="3405188" h="571500">
                <a:moveTo>
                  <a:pt x="63499" y="0"/>
                </a:moveTo>
                <a:lnTo>
                  <a:pt x="3341688" y="0"/>
                </a:lnTo>
                <a:cubicBezTo>
                  <a:pt x="3376758" y="0"/>
                  <a:pt x="3405188" y="28430"/>
                  <a:pt x="3405188" y="63499"/>
                </a:cubicBezTo>
                <a:lnTo>
                  <a:pt x="3405188" y="508001"/>
                </a:lnTo>
                <a:cubicBezTo>
                  <a:pt x="3405188" y="543070"/>
                  <a:pt x="3376758" y="571500"/>
                  <a:pt x="33416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394700" y="3933824"/>
            <a:ext cx="327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94700" y="4124324"/>
            <a:ext cx="327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Discovery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0675" y="4743450"/>
            <a:ext cx="11547475" cy="1276350"/>
          </a:xfrm>
          <a:custGeom>
            <a:avLst/>
            <a:gdLst/>
            <a:ahLst/>
            <a:cxnLst/>
            <a:rect l="l" t="t" r="r" b="b"/>
            <a:pathLst>
              <a:path w="11547475" h="1276350">
                <a:moveTo>
                  <a:pt x="63498" y="0"/>
                </a:moveTo>
                <a:lnTo>
                  <a:pt x="11483977" y="0"/>
                </a:lnTo>
                <a:cubicBezTo>
                  <a:pt x="11519046" y="0"/>
                  <a:pt x="11547475" y="28429"/>
                  <a:pt x="11547475" y="63498"/>
                </a:cubicBezTo>
                <a:lnTo>
                  <a:pt x="11547475" y="1212852"/>
                </a:lnTo>
                <a:cubicBezTo>
                  <a:pt x="11547475" y="1247921"/>
                  <a:pt x="11519046" y="1276350"/>
                  <a:pt x="11483977" y="1276350"/>
                </a:cubicBezTo>
                <a:lnTo>
                  <a:pt x="63498" y="1276350"/>
                </a:lnTo>
                <a:cubicBezTo>
                  <a:pt x="28429" y="1276350"/>
                  <a:pt x="0" y="1247921"/>
                  <a:pt x="0" y="1212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129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50850" y="4873625"/>
            <a:ext cx="1135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 Data Flow Architecture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7200" y="516572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63502" y="0"/>
                </a:moveTo>
                <a:lnTo>
                  <a:pt x="433385" y="0"/>
                </a:lnTo>
                <a:cubicBezTo>
                  <a:pt x="468433" y="0"/>
                  <a:pt x="496887" y="28454"/>
                  <a:pt x="496887" y="63502"/>
                </a:cubicBezTo>
                <a:lnTo>
                  <a:pt x="496887" y="433385"/>
                </a:lnTo>
                <a:cubicBezTo>
                  <a:pt x="496887" y="468433"/>
                  <a:pt x="468433" y="496887"/>
                  <a:pt x="433385" y="496887"/>
                </a:cubicBezTo>
                <a:lnTo>
                  <a:pt x="63502" y="496887"/>
                </a:lnTo>
                <a:cubicBezTo>
                  <a:pt x="28454" y="496887"/>
                  <a:pt x="0" y="468433"/>
                  <a:pt x="0" y="4333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33413" y="5318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13109"/>
                </a:lnTo>
                <a:lnTo>
                  <a:pt x="67754" y="113109"/>
                </a:lnTo>
                <a:lnTo>
                  <a:pt x="56220" y="101575"/>
                </a:lnTo>
                <a:cubicBezTo>
                  <a:pt x="52722" y="98078"/>
                  <a:pt x="52722" y="92422"/>
                  <a:pt x="56220" y="88962"/>
                </a:cubicBezTo>
                <a:cubicBezTo>
                  <a:pt x="59717" y="85502"/>
                  <a:pt x="65373" y="85465"/>
                  <a:pt x="68833" y="88962"/>
                </a:cubicBezTo>
                <a:lnTo>
                  <a:pt x="95622" y="115751"/>
                </a:lnTo>
                <a:cubicBezTo>
                  <a:pt x="99120" y="119249"/>
                  <a:pt x="99120" y="124904"/>
                  <a:pt x="95622" y="128364"/>
                </a:cubicBezTo>
                <a:lnTo>
                  <a:pt x="68833" y="155153"/>
                </a:lnTo>
                <a:cubicBezTo>
                  <a:pt x="65336" y="158651"/>
                  <a:pt x="59680" y="158651"/>
                  <a:pt x="56220" y="155153"/>
                </a:cubicBezTo>
                <a:cubicBezTo>
                  <a:pt x="52760" y="151656"/>
                  <a:pt x="52722" y="146000"/>
                  <a:pt x="56220" y="142540"/>
                </a:cubicBezTo>
                <a:lnTo>
                  <a:pt x="67754" y="131006"/>
                </a:lnTo>
                <a:lnTo>
                  <a:pt x="0" y="131006"/>
                </a:lnTo>
                <a:lnTo>
                  <a:pt x="0" y="166725"/>
                </a:lnTo>
                <a:cubicBezTo>
                  <a:pt x="0" y="179859"/>
                  <a:pt x="10678" y="190537"/>
                  <a:pt x="23812" y="190537"/>
                </a:cubicBezTo>
                <a:lnTo>
                  <a:pt x="119063" y="190537"/>
                </a:lnTo>
                <a:cubicBezTo>
                  <a:pt x="132197" y="190537"/>
                  <a:pt x="142875" y="179859"/>
                  <a:pt x="142875" y="166725"/>
                </a:cubicBezTo>
                <a:lnTo>
                  <a:pt x="142875" y="63475"/>
                </a:lnTo>
                <a:cubicBezTo>
                  <a:pt x="142875" y="57150"/>
                  <a:pt x="140382" y="51085"/>
                  <a:pt x="135917" y="46620"/>
                </a:cubicBezTo>
                <a:lnTo>
                  <a:pt x="96255" y="6958"/>
                </a:lnTo>
                <a:cubicBezTo>
                  <a:pt x="91790" y="2493"/>
                  <a:pt x="85762" y="0"/>
                  <a:pt x="79437" y="0"/>
                </a:cubicBezTo>
                <a:lnTo>
                  <a:pt x="23812" y="0"/>
                </a:lnTo>
                <a:close/>
                <a:moveTo>
                  <a:pt x="121109" y="65484"/>
                </a:moveTo>
                <a:lnTo>
                  <a:pt x="86320" y="65484"/>
                </a:lnTo>
                <a:cubicBezTo>
                  <a:pt x="81372" y="65484"/>
                  <a:pt x="77391" y="61503"/>
                  <a:pt x="77391" y="56555"/>
                </a:cubicBezTo>
                <a:lnTo>
                  <a:pt x="77391" y="21766"/>
                </a:lnTo>
                <a:lnTo>
                  <a:pt x="121109" y="65484"/>
                </a:ln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23069" y="5730875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Files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420342" y="5445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86382"/>
                </a:moveTo>
                <a:cubicBezTo>
                  <a:pt x="159711" y="82507"/>
                  <a:pt x="159711" y="76212"/>
                  <a:pt x="155835" y="72337"/>
                </a:cubicBezTo>
                <a:lnTo>
                  <a:pt x="106226" y="22727"/>
                </a:lnTo>
                <a:cubicBezTo>
                  <a:pt x="102350" y="18852"/>
                  <a:pt x="96056" y="18852"/>
                  <a:pt x="92180" y="22727"/>
                </a:cubicBezTo>
                <a:cubicBezTo>
                  <a:pt x="88305" y="26603"/>
                  <a:pt x="88305" y="32897"/>
                  <a:pt x="92180" y="36773"/>
                </a:cubicBezTo>
                <a:lnTo>
                  <a:pt x="124861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4861" y="89297"/>
                </a:lnTo>
                <a:lnTo>
                  <a:pt x="92180" y="121977"/>
                </a:lnTo>
                <a:cubicBezTo>
                  <a:pt x="88305" y="125853"/>
                  <a:pt x="88305" y="132147"/>
                  <a:pt x="92180" y="136023"/>
                </a:cubicBezTo>
                <a:cubicBezTo>
                  <a:pt x="96056" y="139898"/>
                  <a:pt x="102350" y="139898"/>
                  <a:pt x="106226" y="136023"/>
                </a:cubicBezTo>
                <a:lnTo>
                  <a:pt x="155835" y="86413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046935" y="516572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63502" y="0"/>
                </a:moveTo>
                <a:lnTo>
                  <a:pt x="433385" y="0"/>
                </a:lnTo>
                <a:cubicBezTo>
                  <a:pt x="468433" y="0"/>
                  <a:pt x="496887" y="28454"/>
                  <a:pt x="496887" y="63502"/>
                </a:cubicBezTo>
                <a:lnTo>
                  <a:pt x="496887" y="433385"/>
                </a:lnTo>
                <a:cubicBezTo>
                  <a:pt x="496887" y="468433"/>
                  <a:pt x="468433" y="496887"/>
                  <a:pt x="433385" y="496887"/>
                </a:cubicBezTo>
                <a:lnTo>
                  <a:pt x="63502" y="496887"/>
                </a:lnTo>
                <a:cubicBezTo>
                  <a:pt x="28454" y="496887"/>
                  <a:pt x="0" y="468433"/>
                  <a:pt x="0" y="4333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175522" y="53181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012803" y="5730875"/>
            <a:ext cx="579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Harmonize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022677" y="5445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86382"/>
                </a:moveTo>
                <a:cubicBezTo>
                  <a:pt x="159711" y="82507"/>
                  <a:pt x="159711" y="76212"/>
                  <a:pt x="155835" y="72337"/>
                </a:cubicBezTo>
                <a:lnTo>
                  <a:pt x="106226" y="22727"/>
                </a:lnTo>
                <a:cubicBezTo>
                  <a:pt x="102350" y="18852"/>
                  <a:pt x="96056" y="18852"/>
                  <a:pt x="92180" y="22727"/>
                </a:cubicBezTo>
                <a:cubicBezTo>
                  <a:pt x="88305" y="26603"/>
                  <a:pt x="88305" y="32897"/>
                  <a:pt x="92180" y="36773"/>
                </a:cubicBezTo>
                <a:lnTo>
                  <a:pt x="124861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4861" y="89297"/>
                </a:lnTo>
                <a:lnTo>
                  <a:pt x="92180" y="121977"/>
                </a:lnTo>
                <a:cubicBezTo>
                  <a:pt x="88305" y="125853"/>
                  <a:pt x="88305" y="132147"/>
                  <a:pt x="92180" y="136023"/>
                </a:cubicBezTo>
                <a:cubicBezTo>
                  <a:pt x="96056" y="139898"/>
                  <a:pt x="102350" y="139898"/>
                  <a:pt x="106226" y="136023"/>
                </a:cubicBezTo>
                <a:lnTo>
                  <a:pt x="155835" y="86413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7649270" y="516572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63502" y="0"/>
                </a:moveTo>
                <a:lnTo>
                  <a:pt x="433385" y="0"/>
                </a:lnTo>
                <a:cubicBezTo>
                  <a:pt x="468433" y="0"/>
                  <a:pt x="496887" y="28454"/>
                  <a:pt x="496887" y="63502"/>
                </a:cubicBezTo>
                <a:lnTo>
                  <a:pt x="496887" y="433385"/>
                </a:lnTo>
                <a:cubicBezTo>
                  <a:pt x="496887" y="468433"/>
                  <a:pt x="468433" y="496887"/>
                  <a:pt x="433385" y="496887"/>
                </a:cubicBezTo>
                <a:lnTo>
                  <a:pt x="63502" y="496887"/>
                </a:lnTo>
                <a:cubicBezTo>
                  <a:pt x="28454" y="496887"/>
                  <a:pt x="0" y="468433"/>
                  <a:pt x="0" y="4333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801670" y="5318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615138" y="5730875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612412" y="5445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86382"/>
                </a:moveTo>
                <a:cubicBezTo>
                  <a:pt x="159711" y="82507"/>
                  <a:pt x="159711" y="76212"/>
                  <a:pt x="155835" y="72337"/>
                </a:cubicBezTo>
                <a:lnTo>
                  <a:pt x="106226" y="22727"/>
                </a:lnTo>
                <a:cubicBezTo>
                  <a:pt x="102350" y="18852"/>
                  <a:pt x="96056" y="18852"/>
                  <a:pt x="92180" y="22727"/>
                </a:cubicBezTo>
                <a:cubicBezTo>
                  <a:pt x="88305" y="26603"/>
                  <a:pt x="88305" y="32897"/>
                  <a:pt x="92180" y="36773"/>
                </a:cubicBezTo>
                <a:lnTo>
                  <a:pt x="124861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4861" y="89297"/>
                </a:lnTo>
                <a:lnTo>
                  <a:pt x="92180" y="121977"/>
                </a:lnTo>
                <a:cubicBezTo>
                  <a:pt x="88305" y="125853"/>
                  <a:pt x="88305" y="132147"/>
                  <a:pt x="92180" y="136023"/>
                </a:cubicBezTo>
                <a:cubicBezTo>
                  <a:pt x="96056" y="139898"/>
                  <a:pt x="102350" y="139898"/>
                  <a:pt x="106226" y="136023"/>
                </a:cubicBezTo>
                <a:lnTo>
                  <a:pt x="155835" y="86413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1239004" y="516572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63502" y="0"/>
                </a:moveTo>
                <a:lnTo>
                  <a:pt x="433385" y="0"/>
                </a:lnTo>
                <a:cubicBezTo>
                  <a:pt x="468433" y="0"/>
                  <a:pt x="496887" y="28454"/>
                  <a:pt x="496887" y="63502"/>
                </a:cubicBezTo>
                <a:lnTo>
                  <a:pt x="496887" y="433385"/>
                </a:lnTo>
                <a:cubicBezTo>
                  <a:pt x="496887" y="468433"/>
                  <a:pt x="468433" y="496887"/>
                  <a:pt x="433385" y="496887"/>
                </a:cubicBezTo>
                <a:lnTo>
                  <a:pt x="63502" y="496887"/>
                </a:lnTo>
                <a:cubicBezTo>
                  <a:pt x="28454" y="496887"/>
                  <a:pt x="0" y="468433"/>
                  <a:pt x="0" y="4333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11415217" y="5318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11204873" y="5730875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38138" y="3810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0100" y="514350"/>
            <a:ext cx="9858375" cy="38100"/>
          </a:xfrm>
          <a:custGeom>
            <a:avLst/>
            <a:gdLst/>
            <a:ahLst/>
            <a:cxnLst/>
            <a:rect l="l" t="t" r="r" b="b"/>
            <a:pathLst>
              <a:path w="9858375" h="38100">
                <a:moveTo>
                  <a:pt x="0" y="0"/>
                </a:moveTo>
                <a:lnTo>
                  <a:pt x="9858375" y="0"/>
                </a:lnTo>
                <a:lnTo>
                  <a:pt x="98583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77299" y="4381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382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Ingestion: The "Calamine" Edge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485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Breaking the Speed &amp; Schema Barrier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" y="1912620"/>
            <a:ext cx="3663315" cy="2853690"/>
          </a:xfrm>
          <a:custGeom>
            <a:avLst/>
            <a:gdLst/>
            <a:ahLst/>
            <a:cxnLst/>
            <a:rect l="l" t="t" r="r" b="b"/>
            <a:pathLst>
              <a:path w="3663315" h="2853690">
                <a:moveTo>
                  <a:pt x="76194" y="0"/>
                </a:moveTo>
                <a:lnTo>
                  <a:pt x="3587121" y="0"/>
                </a:lnTo>
                <a:cubicBezTo>
                  <a:pt x="3629202" y="0"/>
                  <a:pt x="3663315" y="34113"/>
                  <a:pt x="3663315" y="76194"/>
                </a:cubicBezTo>
                <a:lnTo>
                  <a:pt x="3663315" y="2777496"/>
                </a:lnTo>
                <a:cubicBezTo>
                  <a:pt x="3663315" y="2819577"/>
                  <a:pt x="3629202" y="2853690"/>
                  <a:pt x="3587121" y="2853690"/>
                </a:cubicBezTo>
                <a:lnTo>
                  <a:pt x="76194" y="2853690"/>
                </a:lnTo>
                <a:cubicBezTo>
                  <a:pt x="34113" y="2853690"/>
                  <a:pt x="0" y="2819577"/>
                  <a:pt x="0" y="277749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86740" y="2110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53427" y="226314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34440" y="2110741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415422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500k+ rows/sec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6740" y="2758441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Rust Calamine Engine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achieves unprecedented performance, processing massive datasets in seconds.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6740" y="3615691"/>
            <a:ext cx="3267075" cy="952500"/>
          </a:xfrm>
          <a:custGeom>
            <a:avLst/>
            <a:gdLst/>
            <a:ahLst/>
            <a:cxnLst/>
            <a:rect l="l" t="t" r="r" b="b"/>
            <a:pathLst>
              <a:path w="3267075" h="952500">
                <a:moveTo>
                  <a:pt x="76200" y="0"/>
                </a:moveTo>
                <a:lnTo>
                  <a:pt x="3190875" y="0"/>
                </a:lnTo>
                <a:cubicBezTo>
                  <a:pt x="3232931" y="0"/>
                  <a:pt x="3267075" y="34144"/>
                  <a:pt x="3267075" y="76200"/>
                </a:cubicBezTo>
                <a:lnTo>
                  <a:pt x="3267075" y="876300"/>
                </a:lnTo>
                <a:cubicBezTo>
                  <a:pt x="3267075" y="918356"/>
                  <a:pt x="3232931" y="952500"/>
                  <a:pt x="31908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1040" y="3749041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(pandas)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33380" y="3729991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~5 mins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1040" y="3996691"/>
            <a:ext cx="3038475" cy="76200"/>
          </a:xfrm>
          <a:custGeom>
            <a:avLst/>
            <a:gdLst/>
            <a:ahLst/>
            <a:cxnLst/>
            <a:rect l="l" t="t" r="r" b="b"/>
            <a:pathLst>
              <a:path w="3038475" h="76200">
                <a:moveTo>
                  <a:pt x="38100" y="0"/>
                </a:moveTo>
                <a:lnTo>
                  <a:pt x="3000375" y="0"/>
                </a:lnTo>
                <a:cubicBezTo>
                  <a:pt x="3021403" y="0"/>
                  <a:pt x="3038475" y="17072"/>
                  <a:pt x="3038475" y="38100"/>
                </a:cubicBezTo>
                <a:lnTo>
                  <a:pt x="3038475" y="38100"/>
                </a:lnTo>
                <a:cubicBezTo>
                  <a:pt x="3038475" y="59128"/>
                  <a:pt x="3021403" y="76200"/>
                  <a:pt x="3000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1040" y="3996691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" y="0"/>
                </a:moveTo>
                <a:lnTo>
                  <a:pt x="419100" y="0"/>
                </a:lnTo>
                <a:cubicBezTo>
                  <a:pt x="440128" y="0"/>
                  <a:pt x="457200" y="17072"/>
                  <a:pt x="457200" y="38100"/>
                </a:cubicBezTo>
                <a:lnTo>
                  <a:pt x="457200" y="38100"/>
                </a:lnTo>
                <a:cubicBezTo>
                  <a:pt x="457200" y="59128"/>
                  <a:pt x="440128" y="76200"/>
                  <a:pt x="419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1040" y="4168141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63980" y="4149091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 secs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1040" y="4377691"/>
            <a:ext cx="3038475" cy="76200"/>
          </a:xfrm>
          <a:custGeom>
            <a:avLst/>
            <a:gdLst/>
            <a:ahLst/>
            <a:cxnLst/>
            <a:rect l="l" t="t" r="r" b="b"/>
            <a:pathLst>
              <a:path w="3038475" h="76200">
                <a:moveTo>
                  <a:pt x="38100" y="0"/>
                </a:moveTo>
                <a:lnTo>
                  <a:pt x="3000375" y="0"/>
                </a:lnTo>
                <a:cubicBezTo>
                  <a:pt x="3021403" y="0"/>
                  <a:pt x="3038475" y="17072"/>
                  <a:pt x="3038475" y="38100"/>
                </a:cubicBezTo>
                <a:lnTo>
                  <a:pt x="3038475" y="38100"/>
                </a:lnTo>
                <a:cubicBezTo>
                  <a:pt x="3038475" y="59128"/>
                  <a:pt x="3021403" y="76200"/>
                  <a:pt x="3000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01040" y="4377691"/>
            <a:ext cx="3038475" cy="76200"/>
          </a:xfrm>
          <a:custGeom>
            <a:avLst/>
            <a:gdLst/>
            <a:ahLst/>
            <a:cxnLst/>
            <a:rect l="l" t="t" r="r" b="b"/>
            <a:pathLst>
              <a:path w="3038475" h="76200">
                <a:moveTo>
                  <a:pt x="38100" y="0"/>
                </a:moveTo>
                <a:lnTo>
                  <a:pt x="3000375" y="0"/>
                </a:lnTo>
                <a:cubicBezTo>
                  <a:pt x="3021403" y="0"/>
                  <a:pt x="3038475" y="17072"/>
                  <a:pt x="3038475" y="38100"/>
                </a:cubicBezTo>
                <a:lnTo>
                  <a:pt x="3038475" y="38100"/>
                </a:lnTo>
                <a:cubicBezTo>
                  <a:pt x="3038475" y="59128"/>
                  <a:pt x="3021403" y="76200"/>
                  <a:pt x="3000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262080" y="1912620"/>
            <a:ext cx="3663315" cy="2853690"/>
          </a:xfrm>
          <a:custGeom>
            <a:avLst/>
            <a:gdLst/>
            <a:ahLst/>
            <a:cxnLst/>
            <a:rect l="l" t="t" r="r" b="b"/>
            <a:pathLst>
              <a:path w="3663315" h="2853690">
                <a:moveTo>
                  <a:pt x="76194" y="0"/>
                </a:moveTo>
                <a:lnTo>
                  <a:pt x="3587121" y="0"/>
                </a:lnTo>
                <a:cubicBezTo>
                  <a:pt x="3629202" y="0"/>
                  <a:pt x="3663315" y="34113"/>
                  <a:pt x="3663315" y="76194"/>
                </a:cubicBezTo>
                <a:lnTo>
                  <a:pt x="3663315" y="2777496"/>
                </a:lnTo>
                <a:cubicBezTo>
                  <a:pt x="3663315" y="2819577"/>
                  <a:pt x="3629202" y="2853690"/>
                  <a:pt x="3587121" y="2853690"/>
                </a:cubicBezTo>
                <a:lnTo>
                  <a:pt x="76194" y="2853690"/>
                </a:lnTo>
                <a:cubicBezTo>
                  <a:pt x="34113" y="2853690"/>
                  <a:pt x="0" y="2819577"/>
                  <a:pt x="0" y="277749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460200" y="2110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12600" y="22631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50006"/>
                </a:moveTo>
                <a:cubicBezTo>
                  <a:pt x="86931" y="50006"/>
                  <a:pt x="82153" y="54784"/>
                  <a:pt x="82153" y="60722"/>
                </a:cubicBezTo>
                <a:lnTo>
                  <a:pt x="82153" y="82153"/>
                </a:lnTo>
                <a:lnTo>
                  <a:pt x="60722" y="82153"/>
                </a:lnTo>
                <a:cubicBezTo>
                  <a:pt x="54784" y="82153"/>
                  <a:pt x="50006" y="86931"/>
                  <a:pt x="50006" y="92869"/>
                </a:cubicBezTo>
                <a:cubicBezTo>
                  <a:pt x="50006" y="98807"/>
                  <a:pt x="54784" y="103584"/>
                  <a:pt x="60722" y="103584"/>
                </a:cubicBezTo>
                <a:lnTo>
                  <a:pt x="82153" y="103584"/>
                </a:lnTo>
                <a:lnTo>
                  <a:pt x="82153" y="125016"/>
                </a:lnTo>
                <a:cubicBezTo>
                  <a:pt x="82153" y="130954"/>
                  <a:pt x="86931" y="135731"/>
                  <a:pt x="92869" y="135731"/>
                </a:cubicBezTo>
                <a:cubicBezTo>
                  <a:pt x="98807" y="135731"/>
                  <a:pt x="103584" y="130954"/>
                  <a:pt x="103584" y="125016"/>
                </a:cubicBezTo>
                <a:lnTo>
                  <a:pt x="103584" y="103584"/>
                </a:lnTo>
                <a:lnTo>
                  <a:pt x="125016" y="103584"/>
                </a:lnTo>
                <a:cubicBezTo>
                  <a:pt x="130954" y="103584"/>
                  <a:pt x="135731" y="98807"/>
                  <a:pt x="135731" y="92869"/>
                </a:cubicBezTo>
                <a:cubicBezTo>
                  <a:pt x="135731" y="86931"/>
                  <a:pt x="130954" y="82153"/>
                  <a:pt x="125016" y="82153"/>
                </a:cubicBezTo>
                <a:lnTo>
                  <a:pt x="103584" y="82153"/>
                </a:lnTo>
                <a:lnTo>
                  <a:pt x="103584" y="60722"/>
                </a:lnTo>
                <a:cubicBezTo>
                  <a:pt x="103584" y="54784"/>
                  <a:pt x="98807" y="50006"/>
                  <a:pt x="92869" y="50006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07900" y="2110741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Scan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7900" y="241542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File Coverage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60200" y="2758441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removed "Top 1000 row" limits.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 scans every row to find buried safety codes.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60200" y="3654028"/>
            <a:ext cx="3267075" cy="914400"/>
          </a:xfrm>
          <a:custGeom>
            <a:avLst/>
            <a:gdLst/>
            <a:ahLst/>
            <a:cxnLst/>
            <a:rect l="l" t="t" r="r" b="b"/>
            <a:pathLst>
              <a:path w="3267075" h="914400">
                <a:moveTo>
                  <a:pt x="76197" y="0"/>
                </a:moveTo>
                <a:lnTo>
                  <a:pt x="3190878" y="0"/>
                </a:lnTo>
                <a:cubicBezTo>
                  <a:pt x="3232960" y="0"/>
                  <a:pt x="3267075" y="34115"/>
                  <a:pt x="3267075" y="76197"/>
                </a:cubicBezTo>
                <a:lnTo>
                  <a:pt x="3267075" y="838203"/>
                </a:lnTo>
                <a:cubicBezTo>
                  <a:pt x="3267075" y="880285"/>
                  <a:pt x="3232960" y="914400"/>
                  <a:pt x="319087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4500" y="380631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Scan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4214" y="3768328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4500" y="4187191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Deep Scan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3323" y="4149210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500,000+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5541" y="1912620"/>
            <a:ext cx="3663315" cy="2853690"/>
          </a:xfrm>
          <a:custGeom>
            <a:avLst/>
            <a:gdLst/>
            <a:ahLst/>
            <a:cxnLst/>
            <a:rect l="l" t="t" r="r" b="b"/>
            <a:pathLst>
              <a:path w="3663315" h="2853690">
                <a:moveTo>
                  <a:pt x="76194" y="0"/>
                </a:moveTo>
                <a:lnTo>
                  <a:pt x="3587121" y="0"/>
                </a:lnTo>
                <a:cubicBezTo>
                  <a:pt x="3629202" y="0"/>
                  <a:pt x="3663315" y="34113"/>
                  <a:pt x="3663315" y="76194"/>
                </a:cubicBezTo>
                <a:lnTo>
                  <a:pt x="3663315" y="2777496"/>
                </a:lnTo>
                <a:cubicBezTo>
                  <a:pt x="3663315" y="2819577"/>
                  <a:pt x="3629202" y="2853690"/>
                  <a:pt x="3587121" y="2853690"/>
                </a:cubicBezTo>
                <a:lnTo>
                  <a:pt x="76194" y="2853690"/>
                </a:lnTo>
                <a:cubicBezTo>
                  <a:pt x="34113" y="2853690"/>
                  <a:pt x="0" y="2819577"/>
                  <a:pt x="0" y="277749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333661" y="2110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486061" y="22631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981361" y="2110741"/>
            <a:ext cx="2581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Harmonization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81361" y="2415422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Fuzzy Logic Mapping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33661" y="2758441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"Fuzzy Logic"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 maps variations to a single master key.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33661" y="3501391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467011" y="36633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690848" y="3615691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Site_ID → Site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67011" y="39681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690848" y="3920491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SiteNumber → Site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67011" y="42729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690848" y="4225291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 # → Site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4810" y="4930142"/>
            <a:ext cx="5608320" cy="922020"/>
          </a:xfrm>
          <a:custGeom>
            <a:avLst/>
            <a:gdLst/>
            <a:ahLst/>
            <a:cxnLst/>
            <a:rect l="l" t="t" r="r" b="b"/>
            <a:pathLst>
              <a:path w="5608320" h="922020">
                <a:moveTo>
                  <a:pt x="76196" y="0"/>
                </a:moveTo>
                <a:lnTo>
                  <a:pt x="5532124" y="0"/>
                </a:lnTo>
                <a:cubicBezTo>
                  <a:pt x="5574206" y="0"/>
                  <a:pt x="5608320" y="34114"/>
                  <a:pt x="5608320" y="76196"/>
                </a:cubicBezTo>
                <a:lnTo>
                  <a:pt x="5608320" y="845824"/>
                </a:lnTo>
                <a:cubicBezTo>
                  <a:pt x="5608320" y="887906"/>
                  <a:pt x="5574206" y="922020"/>
                  <a:pt x="5532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41020" y="5086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31520" y="527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303020" y="5124450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303020" y="542925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Rust (Calamine Engine)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5060" y="4930142"/>
            <a:ext cx="5608320" cy="922020"/>
          </a:xfrm>
          <a:custGeom>
            <a:avLst/>
            <a:gdLst/>
            <a:ahLst/>
            <a:cxnLst/>
            <a:rect l="l" t="t" r="r" b="b"/>
            <a:pathLst>
              <a:path w="5608320" h="922020">
                <a:moveTo>
                  <a:pt x="76196" y="0"/>
                </a:moveTo>
                <a:lnTo>
                  <a:pt x="5532124" y="0"/>
                </a:lnTo>
                <a:cubicBezTo>
                  <a:pt x="5574206" y="0"/>
                  <a:pt x="5608320" y="34114"/>
                  <a:pt x="5608320" y="76196"/>
                </a:cubicBezTo>
                <a:lnTo>
                  <a:pt x="5608320" y="845824"/>
                </a:lnTo>
                <a:cubicBezTo>
                  <a:pt x="5608320" y="887906"/>
                  <a:pt x="5574206" y="922020"/>
                  <a:pt x="5532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351270" y="5086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541770" y="527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113270" y="512445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Gain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13270" y="54292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150x faster than traditional methods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81781" y="317500"/>
            <a:ext cx="325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6750" y="428625"/>
            <a:ext cx="10231438" cy="31750"/>
          </a:xfrm>
          <a:custGeom>
            <a:avLst/>
            <a:gdLst/>
            <a:ahLst/>
            <a:cxnLst/>
            <a:rect l="l" t="t" r="r" b="b"/>
            <a:pathLst>
              <a:path w="10231438" h="31750">
                <a:moveTo>
                  <a:pt x="0" y="0"/>
                </a:moveTo>
                <a:lnTo>
                  <a:pt x="10231438" y="0"/>
                </a:lnTo>
                <a:lnTo>
                  <a:pt x="1023143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91751" y="365125"/>
            <a:ext cx="936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666750"/>
            <a:ext cx="1174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Intelligence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500" y="1206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on the Entire Portfolio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3850" y="1562100"/>
            <a:ext cx="5688013" cy="1219200"/>
          </a:xfrm>
          <a:custGeom>
            <a:avLst/>
            <a:gdLst/>
            <a:ahLst/>
            <a:cxnLst/>
            <a:rect l="l" t="t" r="r" b="b"/>
            <a:pathLst>
              <a:path w="5688013" h="1219200">
                <a:moveTo>
                  <a:pt x="63496" y="0"/>
                </a:moveTo>
                <a:lnTo>
                  <a:pt x="5624517" y="0"/>
                </a:lnTo>
                <a:cubicBezTo>
                  <a:pt x="5659584" y="0"/>
                  <a:pt x="5688013" y="28428"/>
                  <a:pt x="5688013" y="63496"/>
                </a:cubicBezTo>
                <a:lnTo>
                  <a:pt x="5688013" y="1155704"/>
                </a:lnTo>
                <a:cubicBezTo>
                  <a:pt x="5688012" y="1190772"/>
                  <a:pt x="5659584" y="1219200"/>
                  <a:pt x="5624517" y="1219200"/>
                </a:cubicBezTo>
                <a:lnTo>
                  <a:pt x="63496" y="1219200"/>
                </a:lnTo>
                <a:cubicBezTo>
                  <a:pt x="28428" y="1219200"/>
                  <a:pt x="0" y="1190772"/>
                  <a:pt x="0" y="11557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95451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84200" y="18224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96950" y="1695451"/>
            <a:ext cx="896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Shift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6950" y="1949350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Paradigm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235201"/>
            <a:ext cx="5484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from "Study-Specific" to "Portfolio-Wide" Learning.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training models on individual studies, NEST 2.0 trains on </a:t>
            </a: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studies simultaneously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3850" y="2920998"/>
            <a:ext cx="5688013" cy="2330450"/>
          </a:xfrm>
          <a:custGeom>
            <a:avLst/>
            <a:gdLst/>
            <a:ahLst/>
            <a:cxnLst/>
            <a:rect l="l" t="t" r="r" b="b"/>
            <a:pathLst>
              <a:path w="5688013" h="2330450">
                <a:moveTo>
                  <a:pt x="63505" y="0"/>
                </a:moveTo>
                <a:lnTo>
                  <a:pt x="5624508" y="0"/>
                </a:lnTo>
                <a:cubicBezTo>
                  <a:pt x="5659580" y="0"/>
                  <a:pt x="5688013" y="28432"/>
                  <a:pt x="5688013" y="63505"/>
                </a:cubicBezTo>
                <a:lnTo>
                  <a:pt x="5688013" y="2266945"/>
                </a:lnTo>
                <a:cubicBezTo>
                  <a:pt x="5688013" y="2302018"/>
                  <a:pt x="5659580" y="2330450"/>
                  <a:pt x="5624508" y="2330450"/>
                </a:cubicBezTo>
                <a:lnTo>
                  <a:pt x="63505" y="2330450"/>
                </a:lnTo>
                <a:cubicBezTo>
                  <a:pt x="28432" y="2330450"/>
                  <a:pt x="0" y="2302018"/>
                  <a:pt x="0" y="226694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05434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84200" y="31813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96950" y="3054348"/>
            <a:ext cx="98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950" y="3308252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594098"/>
            <a:ext cx="5484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Anomaly Detection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learns what "Normal" looks like globally, then flags deviations.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895723"/>
            <a:ext cx="5421313" cy="603250"/>
          </a:xfrm>
          <a:custGeom>
            <a:avLst/>
            <a:gdLst/>
            <a:ahLst/>
            <a:cxnLst/>
            <a:rect l="l" t="t" r="r" b="b"/>
            <a:pathLst>
              <a:path w="5421313" h="603250">
                <a:moveTo>
                  <a:pt x="63498" y="0"/>
                </a:moveTo>
                <a:lnTo>
                  <a:pt x="5357814" y="0"/>
                </a:lnTo>
                <a:cubicBezTo>
                  <a:pt x="5392883" y="0"/>
                  <a:pt x="5421313" y="28429"/>
                  <a:pt x="5421313" y="63498"/>
                </a:cubicBezTo>
                <a:lnTo>
                  <a:pt x="5421313" y="539752"/>
                </a:lnTo>
                <a:cubicBezTo>
                  <a:pt x="5421313" y="574821"/>
                  <a:pt x="5392883" y="603250"/>
                  <a:pt x="5357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2450" y="4003674"/>
            <a:ext cx="804366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2450" y="4213223"/>
            <a:ext cx="529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labelled "bad" data required. The model learns normal behavior and flags </a:t>
            </a: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outliers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1725" y="1562100"/>
            <a:ext cx="5688013" cy="2600325"/>
          </a:xfrm>
          <a:custGeom>
            <a:avLst/>
            <a:gdLst/>
            <a:ahLst/>
            <a:cxnLst/>
            <a:rect l="l" t="t" r="r" b="b"/>
            <a:pathLst>
              <a:path w="5688013" h="2600325">
                <a:moveTo>
                  <a:pt x="63500" y="0"/>
                </a:moveTo>
                <a:lnTo>
                  <a:pt x="5624513" y="0"/>
                </a:lnTo>
                <a:cubicBezTo>
                  <a:pt x="5659583" y="0"/>
                  <a:pt x="5688013" y="28430"/>
                  <a:pt x="5688013" y="63500"/>
                </a:cubicBezTo>
                <a:lnTo>
                  <a:pt x="5688013" y="2536825"/>
                </a:lnTo>
                <a:cubicBezTo>
                  <a:pt x="5688013" y="2571895"/>
                  <a:pt x="5659583" y="2600325"/>
                  <a:pt x="5624513" y="2600325"/>
                </a:cubicBezTo>
                <a:lnTo>
                  <a:pt x="63500" y="2600325"/>
                </a:lnTo>
                <a:cubicBezTo>
                  <a:pt x="28430" y="2600325"/>
                  <a:pt x="0" y="2571895"/>
                  <a:pt x="0" y="2536825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15075" y="1695451"/>
            <a:ext cx="5516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Methodology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15075" y="2044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83325" y="20446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64325" y="2044600"/>
            <a:ext cx="4556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on All 23 Studies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64325" y="2298600"/>
            <a:ext cx="45481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learns patterns across the entire portfolio, understanding global norms.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15075" y="26002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83325" y="260022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64325" y="2600225"/>
            <a:ext cx="514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Global "Normal"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64325" y="2854225"/>
            <a:ext cx="5135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builds a comprehensive baseline, distinguishing true anomalies from study-specific noise.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5075" y="33622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283325" y="336222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64325" y="3362225"/>
            <a:ext cx="514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Flag Mathematically Weird Sites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64325" y="3616225"/>
            <a:ext cx="5135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Sites with unusual patterns (e.g., high queries but low missing data) are flagged, even if they look fine in isolation.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8550" y="4298851"/>
            <a:ext cx="5689600" cy="958850"/>
          </a:xfrm>
          <a:custGeom>
            <a:avLst/>
            <a:gdLst/>
            <a:ahLst/>
            <a:cxnLst/>
            <a:rect l="l" t="t" r="r" b="b"/>
            <a:pathLst>
              <a:path w="5689600" h="958850">
                <a:moveTo>
                  <a:pt x="63505" y="0"/>
                </a:moveTo>
                <a:lnTo>
                  <a:pt x="5626095" y="0"/>
                </a:lnTo>
                <a:cubicBezTo>
                  <a:pt x="5661168" y="0"/>
                  <a:pt x="5689600" y="28432"/>
                  <a:pt x="5689600" y="63505"/>
                </a:cubicBezTo>
                <a:lnTo>
                  <a:pt x="5689600" y="895345"/>
                </a:lnTo>
                <a:cubicBezTo>
                  <a:pt x="5689600" y="930418"/>
                  <a:pt x="5661168" y="958850"/>
                  <a:pt x="5626095" y="958850"/>
                </a:cubicBezTo>
                <a:lnTo>
                  <a:pt x="63505" y="958850"/>
                </a:lnTo>
                <a:cubicBezTo>
                  <a:pt x="28432" y="958850"/>
                  <a:pt x="0" y="930418"/>
                  <a:pt x="0" y="895345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08725" y="4429024"/>
            <a:ext cx="5508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Result: Unprecedented Visibility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08725" y="4714774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 flags sites that are </a:t>
            </a: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"mathematically weird"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sites that might look fine in an Excel filter but are statistical outliers when viewed through a global lens.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3850" y="5394227"/>
            <a:ext cx="11545888" cy="774700"/>
          </a:xfrm>
          <a:custGeom>
            <a:avLst/>
            <a:gdLst/>
            <a:ahLst/>
            <a:cxnLst/>
            <a:rect l="l" t="t" r="r" b="b"/>
            <a:pathLst>
              <a:path w="11545888" h="774700">
                <a:moveTo>
                  <a:pt x="63502" y="0"/>
                </a:moveTo>
                <a:lnTo>
                  <a:pt x="11482385" y="0"/>
                </a:lnTo>
                <a:cubicBezTo>
                  <a:pt x="11517457" y="0"/>
                  <a:pt x="11545888" y="28431"/>
                  <a:pt x="11545888" y="63502"/>
                </a:cubicBezTo>
                <a:lnTo>
                  <a:pt x="11545888" y="711198"/>
                </a:lnTo>
                <a:cubicBezTo>
                  <a:pt x="11545887" y="746269"/>
                  <a:pt x="11517457" y="774700"/>
                  <a:pt x="11482385" y="774700"/>
                </a:cubicBezTo>
                <a:lnTo>
                  <a:pt x="63502" y="774700"/>
                </a:lnTo>
                <a:cubicBezTo>
                  <a:pt x="28431" y="774700"/>
                  <a:pt x="0" y="746269"/>
                  <a:pt x="0" y="7111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57200" y="552757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39762" y="568632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092200" y="5551386"/>
            <a:ext cx="1072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2200" y="5805386"/>
            <a:ext cx="10707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context matters.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site might look normal in isolation, but when compared to 22 other studies, patterns emerge. NEST 2.0 provides this missing context.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326644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89897" y="326644"/>
            <a:ext cx="33481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953" y="440970"/>
            <a:ext cx="10174971" cy="32664"/>
          </a:xfrm>
          <a:custGeom>
            <a:avLst/>
            <a:gdLst/>
            <a:ahLst/>
            <a:cxnLst/>
            <a:rect l="l" t="t" r="r" b="b"/>
            <a:pathLst>
              <a:path w="10174971" h="32664">
                <a:moveTo>
                  <a:pt x="0" y="0"/>
                </a:moveTo>
                <a:lnTo>
                  <a:pt x="10174971" y="0"/>
                </a:lnTo>
                <a:lnTo>
                  <a:pt x="10174971" y="32664"/>
                </a:lnTo>
                <a:lnTo>
                  <a:pt x="0" y="32664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56876" y="375641"/>
            <a:ext cx="97176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9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6644" y="718618"/>
            <a:ext cx="11734698" cy="489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Signal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6644" y="1273913"/>
            <a:ext cx="1162037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 AI &amp; Medical Pattern Discovery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177" y="1672419"/>
            <a:ext cx="4528924" cy="2332241"/>
          </a:xfrm>
          <a:custGeom>
            <a:avLst/>
            <a:gdLst/>
            <a:ahLst/>
            <a:cxnLst/>
            <a:rect l="l" t="t" r="r" b="b"/>
            <a:pathLst>
              <a:path w="4528924" h="2332241">
                <a:moveTo>
                  <a:pt x="65326" y="0"/>
                </a:moveTo>
                <a:lnTo>
                  <a:pt x="4463598" y="0"/>
                </a:lnTo>
                <a:cubicBezTo>
                  <a:pt x="4499676" y="0"/>
                  <a:pt x="4528924" y="29247"/>
                  <a:pt x="4528924" y="65326"/>
                </a:cubicBezTo>
                <a:lnTo>
                  <a:pt x="4528924" y="2266915"/>
                </a:lnTo>
                <a:cubicBezTo>
                  <a:pt x="4528924" y="2302993"/>
                  <a:pt x="4499676" y="2332241"/>
                  <a:pt x="4463598" y="2332241"/>
                </a:cubicBezTo>
                <a:lnTo>
                  <a:pt x="65326" y="2332241"/>
                </a:lnTo>
                <a:cubicBezTo>
                  <a:pt x="29247" y="2332241"/>
                  <a:pt x="0" y="2302993"/>
                  <a:pt x="0" y="2266915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3032" y="1842271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65330" y="0"/>
                </a:moveTo>
                <a:lnTo>
                  <a:pt x="391972" y="0"/>
                </a:lnTo>
                <a:cubicBezTo>
                  <a:pt x="428053" y="0"/>
                  <a:pt x="457302" y="29249"/>
                  <a:pt x="457302" y="65330"/>
                </a:cubicBezTo>
                <a:lnTo>
                  <a:pt x="457302" y="391972"/>
                </a:lnTo>
                <a:cubicBezTo>
                  <a:pt x="457302" y="428053"/>
                  <a:pt x="428053" y="457302"/>
                  <a:pt x="391972" y="457302"/>
                </a:cubicBezTo>
                <a:lnTo>
                  <a:pt x="65330" y="457302"/>
                </a:lnTo>
                <a:cubicBezTo>
                  <a:pt x="29249" y="457302"/>
                  <a:pt x="0" y="428053"/>
                  <a:pt x="0" y="391972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3690" y="1972929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159239" y="79620"/>
                </a:moveTo>
                <a:cubicBezTo>
                  <a:pt x="159239" y="97189"/>
                  <a:pt x="153536" y="113420"/>
                  <a:pt x="143928" y="126587"/>
                </a:cubicBezTo>
                <a:lnTo>
                  <a:pt x="192388" y="175086"/>
                </a:lnTo>
                <a:cubicBezTo>
                  <a:pt x="197173" y="179871"/>
                  <a:pt x="197173" y="187642"/>
                  <a:pt x="192388" y="192427"/>
                </a:cubicBezTo>
                <a:cubicBezTo>
                  <a:pt x="187604" y="197212"/>
                  <a:pt x="179833" y="197212"/>
                  <a:pt x="175048" y="192427"/>
                </a:cubicBezTo>
                <a:lnTo>
                  <a:pt x="126587" y="143928"/>
                </a:lnTo>
                <a:cubicBezTo>
                  <a:pt x="113420" y="153536"/>
                  <a:pt x="97189" y="159239"/>
                  <a:pt x="79620" y="159239"/>
                </a:cubicBezTo>
                <a:cubicBezTo>
                  <a:pt x="35637" y="159239"/>
                  <a:pt x="0" y="123602"/>
                  <a:pt x="0" y="79620"/>
                </a:cubicBezTo>
                <a:cubicBezTo>
                  <a:pt x="0" y="35637"/>
                  <a:pt x="35637" y="0"/>
                  <a:pt x="79620" y="0"/>
                </a:cubicBezTo>
                <a:cubicBezTo>
                  <a:pt x="123602" y="0"/>
                  <a:pt x="159239" y="35637"/>
                  <a:pt x="159239" y="79620"/>
                </a:cubicBezTo>
                <a:close/>
                <a:moveTo>
                  <a:pt x="79620" y="134741"/>
                </a:moveTo>
                <a:cubicBezTo>
                  <a:pt x="110042" y="134741"/>
                  <a:pt x="134741" y="110042"/>
                  <a:pt x="134741" y="79620"/>
                </a:cubicBezTo>
                <a:cubicBezTo>
                  <a:pt x="134741" y="49197"/>
                  <a:pt x="110042" y="24498"/>
                  <a:pt x="79620" y="24498"/>
                </a:cubicBezTo>
                <a:cubicBezTo>
                  <a:pt x="49197" y="24498"/>
                  <a:pt x="24498" y="49197"/>
                  <a:pt x="24498" y="79620"/>
                </a:cubicBezTo>
                <a:cubicBezTo>
                  <a:pt x="24498" y="110042"/>
                  <a:pt x="49197" y="134741"/>
                  <a:pt x="79620" y="134741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8328" y="1842271"/>
            <a:ext cx="2237514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"Headache" 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8328" y="2103487"/>
            <a:ext cx="220484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Search Fails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032" y="2397566"/>
            <a:ext cx="4254543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Searching for "Headache" misses</a:t>
            </a:r>
            <a:r>
              <a:rPr lang="en-US" sz="1029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"Migraine", "Cephalgia", "Head Pain"</a:t>
            </a: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medically related terms that should be grouped.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3032" y="2952862"/>
            <a:ext cx="4189214" cy="881940"/>
          </a:xfrm>
          <a:custGeom>
            <a:avLst/>
            <a:gdLst/>
            <a:ahLst/>
            <a:cxnLst/>
            <a:rect l="l" t="t" r="r" b="b"/>
            <a:pathLst>
              <a:path w="4189214" h="881940">
                <a:moveTo>
                  <a:pt x="65325" y="0"/>
                </a:moveTo>
                <a:lnTo>
                  <a:pt x="4123888" y="0"/>
                </a:lnTo>
                <a:cubicBezTo>
                  <a:pt x="4159967" y="0"/>
                  <a:pt x="4189214" y="29247"/>
                  <a:pt x="4189214" y="65325"/>
                </a:cubicBezTo>
                <a:lnTo>
                  <a:pt x="4189214" y="816614"/>
                </a:lnTo>
                <a:cubicBezTo>
                  <a:pt x="4189214" y="852693"/>
                  <a:pt x="4159967" y="881940"/>
                  <a:pt x="4123888" y="881940"/>
                </a:cubicBezTo>
                <a:lnTo>
                  <a:pt x="65325" y="881940"/>
                </a:lnTo>
                <a:cubicBezTo>
                  <a:pt x="29247" y="881940"/>
                  <a:pt x="0" y="852693"/>
                  <a:pt x="0" y="816614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3690" y="3096586"/>
            <a:ext cx="686770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Gap: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90" y="3312170"/>
            <a:ext cx="3993227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keyword search has </a:t>
            </a: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medical intelligence</a:t>
            </a: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can't find what it doesn't know to look for.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01946" y="1672419"/>
            <a:ext cx="6856265" cy="2332241"/>
          </a:xfrm>
          <a:custGeom>
            <a:avLst/>
            <a:gdLst/>
            <a:ahLst/>
            <a:cxnLst/>
            <a:rect l="l" t="t" r="r" b="b"/>
            <a:pathLst>
              <a:path w="6856265" h="2332241">
                <a:moveTo>
                  <a:pt x="65326" y="0"/>
                </a:moveTo>
                <a:lnTo>
                  <a:pt x="6790939" y="0"/>
                </a:lnTo>
                <a:cubicBezTo>
                  <a:pt x="6827017" y="0"/>
                  <a:pt x="6856265" y="29247"/>
                  <a:pt x="6856265" y="65326"/>
                </a:cubicBezTo>
                <a:lnTo>
                  <a:pt x="6856265" y="2266915"/>
                </a:lnTo>
                <a:cubicBezTo>
                  <a:pt x="6856265" y="2302993"/>
                  <a:pt x="6827017" y="2332241"/>
                  <a:pt x="6790939" y="2332241"/>
                </a:cubicBezTo>
                <a:lnTo>
                  <a:pt x="65326" y="2332241"/>
                </a:lnTo>
                <a:cubicBezTo>
                  <a:pt x="29247" y="2332241"/>
                  <a:pt x="0" y="2302993"/>
                  <a:pt x="0" y="2266915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171801" y="1842271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65330" y="0"/>
                </a:moveTo>
                <a:lnTo>
                  <a:pt x="391972" y="0"/>
                </a:lnTo>
                <a:cubicBezTo>
                  <a:pt x="428053" y="0"/>
                  <a:pt x="457302" y="29249"/>
                  <a:pt x="457302" y="65330"/>
                </a:cubicBezTo>
                <a:lnTo>
                  <a:pt x="457302" y="391972"/>
                </a:lnTo>
                <a:cubicBezTo>
                  <a:pt x="457302" y="428053"/>
                  <a:pt x="428053" y="457302"/>
                  <a:pt x="391972" y="457302"/>
                </a:cubicBezTo>
                <a:lnTo>
                  <a:pt x="65330" y="457302"/>
                </a:lnTo>
                <a:cubicBezTo>
                  <a:pt x="29249" y="457302"/>
                  <a:pt x="0" y="428053"/>
                  <a:pt x="0" y="391972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277960" y="1972929"/>
            <a:ext cx="244983" cy="195987"/>
          </a:xfrm>
          <a:custGeom>
            <a:avLst/>
            <a:gdLst/>
            <a:ahLst/>
            <a:cxnLst/>
            <a:rect l="l" t="t" r="r" b="b"/>
            <a:pathLst>
              <a:path w="244983" h="195987">
                <a:moveTo>
                  <a:pt x="134741" y="0"/>
                </a:moveTo>
                <a:cubicBezTo>
                  <a:pt x="134741" y="-6775"/>
                  <a:pt x="129267" y="-12249"/>
                  <a:pt x="122492" y="-12249"/>
                </a:cubicBezTo>
                <a:cubicBezTo>
                  <a:pt x="115716" y="-12249"/>
                  <a:pt x="110242" y="-6775"/>
                  <a:pt x="110242" y="0"/>
                </a:cubicBezTo>
                <a:lnTo>
                  <a:pt x="110242" y="24498"/>
                </a:lnTo>
                <a:lnTo>
                  <a:pt x="73495" y="24498"/>
                </a:lnTo>
                <a:cubicBezTo>
                  <a:pt x="53207" y="24498"/>
                  <a:pt x="36747" y="40958"/>
                  <a:pt x="36747" y="61246"/>
                </a:cubicBezTo>
                <a:lnTo>
                  <a:pt x="36747" y="146990"/>
                </a:lnTo>
                <a:cubicBezTo>
                  <a:pt x="36747" y="167278"/>
                  <a:pt x="53207" y="183737"/>
                  <a:pt x="73495" y="183737"/>
                </a:cubicBezTo>
                <a:lnTo>
                  <a:pt x="171488" y="183737"/>
                </a:lnTo>
                <a:cubicBezTo>
                  <a:pt x="191776" y="183737"/>
                  <a:pt x="208236" y="167278"/>
                  <a:pt x="208236" y="146990"/>
                </a:cubicBezTo>
                <a:lnTo>
                  <a:pt x="208236" y="61246"/>
                </a:lnTo>
                <a:cubicBezTo>
                  <a:pt x="208236" y="40958"/>
                  <a:pt x="191776" y="24498"/>
                  <a:pt x="171488" y="24498"/>
                </a:cubicBezTo>
                <a:lnTo>
                  <a:pt x="134741" y="24498"/>
                </a:lnTo>
                <a:lnTo>
                  <a:pt x="134741" y="0"/>
                </a:lnTo>
                <a:close/>
                <a:moveTo>
                  <a:pt x="61246" y="140865"/>
                </a:moveTo>
                <a:cubicBezTo>
                  <a:pt x="61246" y="135774"/>
                  <a:pt x="65342" y="131678"/>
                  <a:pt x="70433" y="131678"/>
                </a:cubicBezTo>
                <a:lnTo>
                  <a:pt x="82682" y="131678"/>
                </a:lnTo>
                <a:cubicBezTo>
                  <a:pt x="87773" y="131678"/>
                  <a:pt x="91869" y="135774"/>
                  <a:pt x="91869" y="140865"/>
                </a:cubicBezTo>
                <a:cubicBezTo>
                  <a:pt x="91869" y="145956"/>
                  <a:pt x="87773" y="150052"/>
                  <a:pt x="82682" y="150052"/>
                </a:cubicBezTo>
                <a:lnTo>
                  <a:pt x="70433" y="150052"/>
                </a:lnTo>
                <a:cubicBezTo>
                  <a:pt x="65342" y="150052"/>
                  <a:pt x="61246" y="145956"/>
                  <a:pt x="61246" y="140865"/>
                </a:cubicBezTo>
                <a:close/>
                <a:moveTo>
                  <a:pt x="107180" y="140865"/>
                </a:moveTo>
                <a:cubicBezTo>
                  <a:pt x="107180" y="135774"/>
                  <a:pt x="111276" y="131678"/>
                  <a:pt x="116367" y="131678"/>
                </a:cubicBezTo>
                <a:lnTo>
                  <a:pt x="128616" y="131678"/>
                </a:lnTo>
                <a:cubicBezTo>
                  <a:pt x="133707" y="131678"/>
                  <a:pt x="137803" y="135774"/>
                  <a:pt x="137803" y="140865"/>
                </a:cubicBezTo>
                <a:cubicBezTo>
                  <a:pt x="137803" y="145956"/>
                  <a:pt x="133707" y="150052"/>
                  <a:pt x="128616" y="150052"/>
                </a:cubicBezTo>
                <a:lnTo>
                  <a:pt x="116367" y="150052"/>
                </a:lnTo>
                <a:cubicBezTo>
                  <a:pt x="111276" y="150052"/>
                  <a:pt x="107180" y="145956"/>
                  <a:pt x="107180" y="140865"/>
                </a:cubicBezTo>
                <a:close/>
                <a:moveTo>
                  <a:pt x="153115" y="140865"/>
                </a:moveTo>
                <a:cubicBezTo>
                  <a:pt x="153115" y="135774"/>
                  <a:pt x="157210" y="131678"/>
                  <a:pt x="162301" y="131678"/>
                </a:cubicBezTo>
                <a:lnTo>
                  <a:pt x="174551" y="131678"/>
                </a:lnTo>
                <a:cubicBezTo>
                  <a:pt x="179642" y="131678"/>
                  <a:pt x="183737" y="135774"/>
                  <a:pt x="183737" y="140865"/>
                </a:cubicBezTo>
                <a:cubicBezTo>
                  <a:pt x="183737" y="145956"/>
                  <a:pt x="179642" y="150052"/>
                  <a:pt x="174551" y="150052"/>
                </a:cubicBezTo>
                <a:lnTo>
                  <a:pt x="162301" y="150052"/>
                </a:lnTo>
                <a:cubicBezTo>
                  <a:pt x="157210" y="150052"/>
                  <a:pt x="153115" y="145956"/>
                  <a:pt x="153115" y="140865"/>
                </a:cubicBezTo>
                <a:close/>
                <a:moveTo>
                  <a:pt x="85744" y="67370"/>
                </a:moveTo>
                <a:cubicBezTo>
                  <a:pt x="95885" y="67370"/>
                  <a:pt x="104118" y="75603"/>
                  <a:pt x="104118" y="85744"/>
                </a:cubicBezTo>
                <a:cubicBezTo>
                  <a:pt x="104118" y="95885"/>
                  <a:pt x="95885" y="104118"/>
                  <a:pt x="85744" y="104118"/>
                </a:cubicBezTo>
                <a:cubicBezTo>
                  <a:pt x="75603" y="104118"/>
                  <a:pt x="67370" y="95885"/>
                  <a:pt x="67370" y="85744"/>
                </a:cubicBezTo>
                <a:cubicBezTo>
                  <a:pt x="67370" y="75603"/>
                  <a:pt x="75603" y="67370"/>
                  <a:pt x="85744" y="67370"/>
                </a:cubicBezTo>
                <a:close/>
                <a:moveTo>
                  <a:pt x="140865" y="85744"/>
                </a:moveTo>
                <a:cubicBezTo>
                  <a:pt x="140865" y="75603"/>
                  <a:pt x="149098" y="67370"/>
                  <a:pt x="159239" y="67370"/>
                </a:cubicBezTo>
                <a:cubicBezTo>
                  <a:pt x="169380" y="67370"/>
                  <a:pt x="177613" y="75603"/>
                  <a:pt x="177613" y="85744"/>
                </a:cubicBezTo>
                <a:cubicBezTo>
                  <a:pt x="177613" y="95885"/>
                  <a:pt x="169380" y="104118"/>
                  <a:pt x="159239" y="104118"/>
                </a:cubicBezTo>
                <a:cubicBezTo>
                  <a:pt x="149098" y="104118"/>
                  <a:pt x="140865" y="95885"/>
                  <a:pt x="140865" y="85744"/>
                </a:cubicBezTo>
                <a:close/>
                <a:moveTo>
                  <a:pt x="24498" y="85744"/>
                </a:moveTo>
                <a:cubicBezTo>
                  <a:pt x="24498" y="78969"/>
                  <a:pt x="19024" y="73495"/>
                  <a:pt x="12249" y="73495"/>
                </a:cubicBezTo>
                <a:cubicBezTo>
                  <a:pt x="5474" y="73495"/>
                  <a:pt x="0" y="78969"/>
                  <a:pt x="0" y="85744"/>
                </a:cubicBezTo>
                <a:lnTo>
                  <a:pt x="0" y="122492"/>
                </a:lnTo>
                <a:cubicBezTo>
                  <a:pt x="0" y="129267"/>
                  <a:pt x="5474" y="134741"/>
                  <a:pt x="12249" y="134741"/>
                </a:cubicBezTo>
                <a:cubicBezTo>
                  <a:pt x="19024" y="134741"/>
                  <a:pt x="24498" y="129267"/>
                  <a:pt x="24498" y="122492"/>
                </a:cubicBezTo>
                <a:lnTo>
                  <a:pt x="24498" y="85744"/>
                </a:lnTo>
                <a:close/>
                <a:moveTo>
                  <a:pt x="232734" y="73495"/>
                </a:moveTo>
                <a:cubicBezTo>
                  <a:pt x="225959" y="73495"/>
                  <a:pt x="220485" y="78969"/>
                  <a:pt x="220485" y="85744"/>
                </a:cubicBezTo>
                <a:lnTo>
                  <a:pt x="220485" y="122492"/>
                </a:lnTo>
                <a:cubicBezTo>
                  <a:pt x="220485" y="129267"/>
                  <a:pt x="225959" y="134741"/>
                  <a:pt x="232734" y="134741"/>
                </a:cubicBezTo>
                <a:cubicBezTo>
                  <a:pt x="239509" y="134741"/>
                  <a:pt x="244983" y="129267"/>
                  <a:pt x="244983" y="122492"/>
                </a:cubicBezTo>
                <a:lnTo>
                  <a:pt x="244983" y="85744"/>
                </a:lnTo>
                <a:cubicBezTo>
                  <a:pt x="244983" y="78969"/>
                  <a:pt x="239509" y="73495"/>
                  <a:pt x="232734" y="7349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27096" y="1842271"/>
            <a:ext cx="1527062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27096" y="2103487"/>
            <a:ext cx="149439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Discovery Engine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71801" y="2397566"/>
            <a:ext cx="6581883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2.0's Gen AI engine</a:t>
            </a: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understands medical semantics and automatically discovers related patterns across studies.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71801" y="3050855"/>
            <a:ext cx="2106856" cy="783946"/>
          </a:xfrm>
          <a:custGeom>
            <a:avLst/>
            <a:gdLst/>
            <a:ahLst/>
            <a:cxnLst/>
            <a:rect l="l" t="t" r="r" b="b"/>
            <a:pathLst>
              <a:path w="2106856" h="783946">
                <a:moveTo>
                  <a:pt x="65326" y="0"/>
                </a:moveTo>
                <a:lnTo>
                  <a:pt x="2041530" y="0"/>
                </a:lnTo>
                <a:cubicBezTo>
                  <a:pt x="2077608" y="0"/>
                  <a:pt x="2106856" y="29248"/>
                  <a:pt x="2106856" y="65326"/>
                </a:cubicBezTo>
                <a:lnTo>
                  <a:pt x="2106856" y="718620"/>
                </a:lnTo>
                <a:cubicBezTo>
                  <a:pt x="2106856" y="754699"/>
                  <a:pt x="2077608" y="783946"/>
                  <a:pt x="2041530" y="783946"/>
                </a:cubicBezTo>
                <a:lnTo>
                  <a:pt x="65326" y="783946"/>
                </a:lnTo>
                <a:cubicBezTo>
                  <a:pt x="29248" y="783946"/>
                  <a:pt x="0" y="754699"/>
                  <a:pt x="0" y="718620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294292" y="3181513"/>
            <a:ext cx="114326" cy="130658"/>
          </a:xfrm>
          <a:custGeom>
            <a:avLst/>
            <a:gdLst/>
            <a:ahLst/>
            <a:cxnLst/>
            <a:rect l="l" t="t" r="r" b="b"/>
            <a:pathLst>
              <a:path w="114326" h="130658">
                <a:moveTo>
                  <a:pt x="42872" y="8166"/>
                </a:moveTo>
                <a:lnTo>
                  <a:pt x="6125" y="8166"/>
                </a:lnTo>
                <a:cubicBezTo>
                  <a:pt x="2731" y="8166"/>
                  <a:pt x="0" y="10897"/>
                  <a:pt x="0" y="14291"/>
                </a:cubicBezTo>
                <a:lnTo>
                  <a:pt x="0" y="51038"/>
                </a:lnTo>
                <a:cubicBezTo>
                  <a:pt x="0" y="53514"/>
                  <a:pt x="1480" y="55759"/>
                  <a:pt x="3777" y="56703"/>
                </a:cubicBezTo>
                <a:cubicBezTo>
                  <a:pt x="6074" y="57648"/>
                  <a:pt x="8702" y="57112"/>
                  <a:pt x="10463" y="55376"/>
                </a:cubicBezTo>
                <a:lnTo>
                  <a:pt x="20670" y="45169"/>
                </a:lnTo>
                <a:lnTo>
                  <a:pt x="40831" y="65329"/>
                </a:lnTo>
                <a:lnTo>
                  <a:pt x="20670" y="85489"/>
                </a:lnTo>
                <a:lnTo>
                  <a:pt x="10463" y="75281"/>
                </a:lnTo>
                <a:cubicBezTo>
                  <a:pt x="8702" y="73520"/>
                  <a:pt x="6074" y="73010"/>
                  <a:pt x="3777" y="73954"/>
                </a:cubicBezTo>
                <a:cubicBezTo>
                  <a:pt x="1480" y="74899"/>
                  <a:pt x="0" y="77144"/>
                  <a:pt x="0" y="79620"/>
                </a:cubicBezTo>
                <a:lnTo>
                  <a:pt x="0" y="116367"/>
                </a:lnTo>
                <a:cubicBezTo>
                  <a:pt x="0" y="119761"/>
                  <a:pt x="2731" y="122492"/>
                  <a:pt x="6125" y="122492"/>
                </a:cubicBezTo>
                <a:lnTo>
                  <a:pt x="42872" y="122492"/>
                </a:lnTo>
                <a:cubicBezTo>
                  <a:pt x="45347" y="122492"/>
                  <a:pt x="47593" y="121012"/>
                  <a:pt x="48537" y="118715"/>
                </a:cubicBezTo>
                <a:cubicBezTo>
                  <a:pt x="49482" y="116418"/>
                  <a:pt x="48971" y="113790"/>
                  <a:pt x="47210" y="112029"/>
                </a:cubicBezTo>
                <a:lnTo>
                  <a:pt x="37003" y="101821"/>
                </a:lnTo>
                <a:lnTo>
                  <a:pt x="57163" y="81661"/>
                </a:lnTo>
                <a:lnTo>
                  <a:pt x="77323" y="101821"/>
                </a:lnTo>
                <a:lnTo>
                  <a:pt x="67115" y="112029"/>
                </a:lnTo>
                <a:cubicBezTo>
                  <a:pt x="65354" y="113790"/>
                  <a:pt x="64844" y="116418"/>
                  <a:pt x="65788" y="118715"/>
                </a:cubicBezTo>
                <a:cubicBezTo>
                  <a:pt x="66732" y="121012"/>
                  <a:pt x="68978" y="122492"/>
                  <a:pt x="71453" y="122492"/>
                </a:cubicBezTo>
                <a:lnTo>
                  <a:pt x="108201" y="122492"/>
                </a:lnTo>
                <a:cubicBezTo>
                  <a:pt x="111595" y="122492"/>
                  <a:pt x="114326" y="119761"/>
                  <a:pt x="114326" y="116367"/>
                </a:cubicBezTo>
                <a:lnTo>
                  <a:pt x="114326" y="79620"/>
                </a:lnTo>
                <a:cubicBezTo>
                  <a:pt x="114326" y="77144"/>
                  <a:pt x="112845" y="74899"/>
                  <a:pt x="110549" y="73954"/>
                </a:cubicBezTo>
                <a:cubicBezTo>
                  <a:pt x="108252" y="73010"/>
                  <a:pt x="105624" y="73520"/>
                  <a:pt x="103863" y="75281"/>
                </a:cubicBezTo>
                <a:lnTo>
                  <a:pt x="93655" y="85489"/>
                </a:lnTo>
                <a:lnTo>
                  <a:pt x="73495" y="65329"/>
                </a:lnTo>
                <a:lnTo>
                  <a:pt x="93655" y="45169"/>
                </a:lnTo>
                <a:lnTo>
                  <a:pt x="103863" y="55376"/>
                </a:lnTo>
                <a:cubicBezTo>
                  <a:pt x="105624" y="57137"/>
                  <a:pt x="108252" y="57648"/>
                  <a:pt x="110549" y="56703"/>
                </a:cubicBezTo>
                <a:cubicBezTo>
                  <a:pt x="112845" y="55759"/>
                  <a:pt x="114326" y="53514"/>
                  <a:pt x="114326" y="51038"/>
                </a:cubicBezTo>
                <a:lnTo>
                  <a:pt x="114326" y="14291"/>
                </a:lnTo>
                <a:cubicBezTo>
                  <a:pt x="114326" y="10897"/>
                  <a:pt x="111595" y="8166"/>
                  <a:pt x="108201" y="8166"/>
                </a:cubicBezTo>
                <a:lnTo>
                  <a:pt x="71453" y="8166"/>
                </a:lnTo>
                <a:cubicBezTo>
                  <a:pt x="68978" y="8166"/>
                  <a:pt x="66732" y="9646"/>
                  <a:pt x="65788" y="11943"/>
                </a:cubicBezTo>
                <a:cubicBezTo>
                  <a:pt x="64844" y="14240"/>
                  <a:pt x="65380" y="16868"/>
                  <a:pt x="67115" y="18629"/>
                </a:cubicBezTo>
                <a:lnTo>
                  <a:pt x="77323" y="28837"/>
                </a:lnTo>
                <a:lnTo>
                  <a:pt x="57163" y="48997"/>
                </a:lnTo>
                <a:lnTo>
                  <a:pt x="37003" y="28837"/>
                </a:lnTo>
                <a:lnTo>
                  <a:pt x="47210" y="18629"/>
                </a:lnTo>
                <a:cubicBezTo>
                  <a:pt x="48971" y="16868"/>
                  <a:pt x="49482" y="14240"/>
                  <a:pt x="48537" y="11943"/>
                </a:cubicBezTo>
                <a:cubicBezTo>
                  <a:pt x="47593" y="9646"/>
                  <a:pt x="45347" y="8166"/>
                  <a:pt x="42872" y="8166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98445" y="3148848"/>
            <a:ext cx="123308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Expansion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69794" y="3410164"/>
            <a:ext cx="1968032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Auto-searches for medical synonyms and related concepts.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77671" y="3050855"/>
            <a:ext cx="2106856" cy="783946"/>
          </a:xfrm>
          <a:custGeom>
            <a:avLst/>
            <a:gdLst/>
            <a:ahLst/>
            <a:cxnLst/>
            <a:rect l="l" t="t" r="r" b="b"/>
            <a:pathLst>
              <a:path w="2106856" h="783946">
                <a:moveTo>
                  <a:pt x="65326" y="0"/>
                </a:moveTo>
                <a:lnTo>
                  <a:pt x="2041530" y="0"/>
                </a:lnTo>
                <a:cubicBezTo>
                  <a:pt x="2077608" y="0"/>
                  <a:pt x="2106856" y="29248"/>
                  <a:pt x="2106856" y="65326"/>
                </a:cubicBezTo>
                <a:lnTo>
                  <a:pt x="2106856" y="718620"/>
                </a:lnTo>
                <a:cubicBezTo>
                  <a:pt x="2106856" y="754699"/>
                  <a:pt x="2077608" y="783946"/>
                  <a:pt x="2041530" y="783946"/>
                </a:cubicBezTo>
                <a:lnTo>
                  <a:pt x="65326" y="783946"/>
                </a:lnTo>
                <a:cubicBezTo>
                  <a:pt x="29248" y="783946"/>
                  <a:pt x="0" y="754699"/>
                  <a:pt x="0" y="718620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500162" y="3181513"/>
            <a:ext cx="114326" cy="130658"/>
          </a:xfrm>
          <a:custGeom>
            <a:avLst/>
            <a:gdLst/>
            <a:ahLst/>
            <a:cxnLst/>
            <a:rect l="l" t="t" r="r" b="b"/>
            <a:pathLst>
              <a:path w="114326" h="130658">
                <a:moveTo>
                  <a:pt x="97993" y="24498"/>
                </a:moveTo>
                <a:lnTo>
                  <a:pt x="97993" y="40831"/>
                </a:lnTo>
                <a:lnTo>
                  <a:pt x="81661" y="40831"/>
                </a:lnTo>
                <a:lnTo>
                  <a:pt x="81661" y="24498"/>
                </a:lnTo>
                <a:lnTo>
                  <a:pt x="97993" y="24498"/>
                </a:lnTo>
                <a:close/>
                <a:moveTo>
                  <a:pt x="97993" y="57163"/>
                </a:moveTo>
                <a:lnTo>
                  <a:pt x="97993" y="73495"/>
                </a:lnTo>
                <a:lnTo>
                  <a:pt x="81661" y="73495"/>
                </a:lnTo>
                <a:lnTo>
                  <a:pt x="81661" y="57163"/>
                </a:lnTo>
                <a:lnTo>
                  <a:pt x="97993" y="57163"/>
                </a:lnTo>
                <a:close/>
                <a:moveTo>
                  <a:pt x="97993" y="89827"/>
                </a:moveTo>
                <a:lnTo>
                  <a:pt x="97993" y="106159"/>
                </a:lnTo>
                <a:lnTo>
                  <a:pt x="81661" y="106159"/>
                </a:lnTo>
                <a:lnTo>
                  <a:pt x="81661" y="89827"/>
                </a:lnTo>
                <a:lnTo>
                  <a:pt x="97993" y="89827"/>
                </a:lnTo>
                <a:close/>
                <a:moveTo>
                  <a:pt x="65329" y="73495"/>
                </a:moveTo>
                <a:lnTo>
                  <a:pt x="48997" y="73495"/>
                </a:lnTo>
                <a:lnTo>
                  <a:pt x="48997" y="57163"/>
                </a:lnTo>
                <a:lnTo>
                  <a:pt x="65329" y="57163"/>
                </a:lnTo>
                <a:lnTo>
                  <a:pt x="65329" y="73495"/>
                </a:lnTo>
                <a:close/>
                <a:moveTo>
                  <a:pt x="48997" y="89827"/>
                </a:moveTo>
                <a:lnTo>
                  <a:pt x="65329" y="89827"/>
                </a:lnTo>
                <a:lnTo>
                  <a:pt x="65329" y="106159"/>
                </a:lnTo>
                <a:lnTo>
                  <a:pt x="48997" y="106159"/>
                </a:lnTo>
                <a:lnTo>
                  <a:pt x="48997" y="89827"/>
                </a:lnTo>
                <a:close/>
                <a:moveTo>
                  <a:pt x="32664" y="73495"/>
                </a:moveTo>
                <a:lnTo>
                  <a:pt x="16332" y="73495"/>
                </a:lnTo>
                <a:lnTo>
                  <a:pt x="16332" y="57163"/>
                </a:lnTo>
                <a:lnTo>
                  <a:pt x="32664" y="57163"/>
                </a:lnTo>
                <a:lnTo>
                  <a:pt x="32664" y="73495"/>
                </a:lnTo>
                <a:close/>
                <a:moveTo>
                  <a:pt x="16332" y="89827"/>
                </a:moveTo>
                <a:lnTo>
                  <a:pt x="32664" y="89827"/>
                </a:lnTo>
                <a:lnTo>
                  <a:pt x="32664" y="106159"/>
                </a:lnTo>
                <a:lnTo>
                  <a:pt x="16332" y="106159"/>
                </a:lnTo>
                <a:lnTo>
                  <a:pt x="16332" y="89827"/>
                </a:lnTo>
                <a:close/>
                <a:moveTo>
                  <a:pt x="16332" y="40831"/>
                </a:moveTo>
                <a:lnTo>
                  <a:pt x="16332" y="24498"/>
                </a:lnTo>
                <a:lnTo>
                  <a:pt x="32664" y="24498"/>
                </a:lnTo>
                <a:lnTo>
                  <a:pt x="32664" y="40831"/>
                </a:lnTo>
                <a:lnTo>
                  <a:pt x="16332" y="40831"/>
                </a:lnTo>
                <a:close/>
                <a:moveTo>
                  <a:pt x="48997" y="40831"/>
                </a:moveTo>
                <a:lnTo>
                  <a:pt x="48997" y="24498"/>
                </a:lnTo>
                <a:lnTo>
                  <a:pt x="65329" y="24498"/>
                </a:lnTo>
                <a:lnTo>
                  <a:pt x="65329" y="40831"/>
                </a:lnTo>
                <a:lnTo>
                  <a:pt x="48997" y="40831"/>
                </a:lnTo>
                <a:close/>
                <a:moveTo>
                  <a:pt x="16332" y="8166"/>
                </a:moveTo>
                <a:cubicBezTo>
                  <a:pt x="7324" y="8166"/>
                  <a:pt x="0" y="15490"/>
                  <a:pt x="0" y="24498"/>
                </a:cubicBezTo>
                <a:lnTo>
                  <a:pt x="0" y="106159"/>
                </a:lnTo>
                <a:cubicBezTo>
                  <a:pt x="0" y="115168"/>
                  <a:pt x="7324" y="122492"/>
                  <a:pt x="16332" y="122492"/>
                </a:cubicBezTo>
                <a:lnTo>
                  <a:pt x="97993" y="122492"/>
                </a:lnTo>
                <a:cubicBezTo>
                  <a:pt x="107002" y="122492"/>
                  <a:pt x="114326" y="115168"/>
                  <a:pt x="114326" y="106159"/>
                </a:cubicBezTo>
                <a:lnTo>
                  <a:pt x="114326" y="24498"/>
                </a:lnTo>
                <a:cubicBezTo>
                  <a:pt x="114326" y="15490"/>
                  <a:pt x="107002" y="8166"/>
                  <a:pt x="97993" y="8166"/>
                </a:cubicBezTo>
                <a:lnTo>
                  <a:pt x="16332" y="8166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04315" y="3148848"/>
            <a:ext cx="125758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Heatmaps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75664" y="3410164"/>
            <a:ext cx="1968032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Visualizes density to reveal hidden clusters.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83541" y="3050855"/>
            <a:ext cx="2106856" cy="783946"/>
          </a:xfrm>
          <a:custGeom>
            <a:avLst/>
            <a:gdLst/>
            <a:ahLst/>
            <a:cxnLst/>
            <a:rect l="l" t="t" r="r" b="b"/>
            <a:pathLst>
              <a:path w="2106856" h="783946">
                <a:moveTo>
                  <a:pt x="65326" y="0"/>
                </a:moveTo>
                <a:lnTo>
                  <a:pt x="2041530" y="0"/>
                </a:lnTo>
                <a:cubicBezTo>
                  <a:pt x="2077608" y="0"/>
                  <a:pt x="2106856" y="29248"/>
                  <a:pt x="2106856" y="65326"/>
                </a:cubicBezTo>
                <a:lnTo>
                  <a:pt x="2106856" y="718620"/>
                </a:lnTo>
                <a:cubicBezTo>
                  <a:pt x="2106856" y="754699"/>
                  <a:pt x="2077608" y="783946"/>
                  <a:pt x="2041530" y="783946"/>
                </a:cubicBezTo>
                <a:lnTo>
                  <a:pt x="65326" y="783946"/>
                </a:lnTo>
                <a:cubicBezTo>
                  <a:pt x="29248" y="783946"/>
                  <a:pt x="0" y="754699"/>
                  <a:pt x="0" y="718620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689701" y="3181513"/>
            <a:ext cx="146990" cy="130658"/>
          </a:xfrm>
          <a:custGeom>
            <a:avLst/>
            <a:gdLst/>
            <a:ahLst/>
            <a:cxnLst/>
            <a:rect l="l" t="t" r="r" b="b"/>
            <a:pathLst>
              <a:path w="146990" h="130658">
                <a:moveTo>
                  <a:pt x="107053" y="24498"/>
                </a:moveTo>
                <a:cubicBezTo>
                  <a:pt x="102816" y="24498"/>
                  <a:pt x="98708" y="25647"/>
                  <a:pt x="95110" y="27739"/>
                </a:cubicBezTo>
                <a:cubicBezTo>
                  <a:pt x="91078" y="23656"/>
                  <a:pt x="86382" y="20237"/>
                  <a:pt x="81202" y="17659"/>
                </a:cubicBezTo>
                <a:cubicBezTo>
                  <a:pt x="88398" y="11535"/>
                  <a:pt x="97559" y="8166"/>
                  <a:pt x="107053" y="8166"/>
                </a:cubicBezTo>
                <a:cubicBezTo>
                  <a:pt x="129101" y="8166"/>
                  <a:pt x="146990" y="26029"/>
                  <a:pt x="146990" y="48103"/>
                </a:cubicBezTo>
                <a:cubicBezTo>
                  <a:pt x="146990" y="58694"/>
                  <a:pt x="142779" y="68851"/>
                  <a:pt x="135302" y="76328"/>
                </a:cubicBezTo>
                <a:lnTo>
                  <a:pt x="117158" y="94472"/>
                </a:lnTo>
                <a:cubicBezTo>
                  <a:pt x="109681" y="101949"/>
                  <a:pt x="99524" y="106159"/>
                  <a:pt x="88934" y="106159"/>
                </a:cubicBezTo>
                <a:cubicBezTo>
                  <a:pt x="66886" y="106159"/>
                  <a:pt x="48997" y="88296"/>
                  <a:pt x="48997" y="66222"/>
                </a:cubicBezTo>
                <a:cubicBezTo>
                  <a:pt x="48997" y="65839"/>
                  <a:pt x="48997" y="65456"/>
                  <a:pt x="49022" y="65074"/>
                </a:cubicBezTo>
                <a:cubicBezTo>
                  <a:pt x="49150" y="60557"/>
                  <a:pt x="52901" y="57010"/>
                  <a:pt x="57418" y="57137"/>
                </a:cubicBezTo>
                <a:cubicBezTo>
                  <a:pt x="61935" y="57265"/>
                  <a:pt x="65482" y="61016"/>
                  <a:pt x="65354" y="65533"/>
                </a:cubicBezTo>
                <a:cubicBezTo>
                  <a:pt x="65354" y="65763"/>
                  <a:pt x="65354" y="65992"/>
                  <a:pt x="65354" y="66197"/>
                </a:cubicBezTo>
                <a:cubicBezTo>
                  <a:pt x="65354" y="79237"/>
                  <a:pt x="75919" y="89802"/>
                  <a:pt x="88960" y="89802"/>
                </a:cubicBezTo>
                <a:cubicBezTo>
                  <a:pt x="95212" y="89802"/>
                  <a:pt x="101209" y="87326"/>
                  <a:pt x="105649" y="82886"/>
                </a:cubicBezTo>
                <a:lnTo>
                  <a:pt x="123793" y="64742"/>
                </a:lnTo>
                <a:cubicBezTo>
                  <a:pt x="128208" y="60327"/>
                  <a:pt x="130709" y="54305"/>
                  <a:pt x="130709" y="48052"/>
                </a:cubicBezTo>
                <a:cubicBezTo>
                  <a:pt x="130709" y="35012"/>
                  <a:pt x="120144" y="24447"/>
                  <a:pt x="107104" y="24447"/>
                </a:cubicBezTo>
                <a:close/>
                <a:moveTo>
                  <a:pt x="70229" y="44225"/>
                </a:moveTo>
                <a:cubicBezTo>
                  <a:pt x="69744" y="44020"/>
                  <a:pt x="69259" y="43740"/>
                  <a:pt x="68825" y="43433"/>
                </a:cubicBezTo>
                <a:cubicBezTo>
                  <a:pt x="65610" y="41775"/>
                  <a:pt x="61935" y="40831"/>
                  <a:pt x="58081" y="40831"/>
                </a:cubicBezTo>
                <a:cubicBezTo>
                  <a:pt x="51829" y="40831"/>
                  <a:pt x="45832" y="43306"/>
                  <a:pt x="41392" y="47746"/>
                </a:cubicBezTo>
                <a:lnTo>
                  <a:pt x="23248" y="65890"/>
                </a:lnTo>
                <a:cubicBezTo>
                  <a:pt x="18833" y="70305"/>
                  <a:pt x="16332" y="76328"/>
                  <a:pt x="16332" y="82580"/>
                </a:cubicBezTo>
                <a:cubicBezTo>
                  <a:pt x="16332" y="95620"/>
                  <a:pt x="26897" y="106185"/>
                  <a:pt x="39937" y="106185"/>
                </a:cubicBezTo>
                <a:cubicBezTo>
                  <a:pt x="44148" y="106185"/>
                  <a:pt x="48257" y="105062"/>
                  <a:pt x="51855" y="102970"/>
                </a:cubicBezTo>
                <a:cubicBezTo>
                  <a:pt x="55887" y="107053"/>
                  <a:pt x="60582" y="110472"/>
                  <a:pt x="65788" y="113050"/>
                </a:cubicBezTo>
                <a:cubicBezTo>
                  <a:pt x="58592" y="119149"/>
                  <a:pt x="49456" y="122543"/>
                  <a:pt x="39937" y="122543"/>
                </a:cubicBezTo>
                <a:cubicBezTo>
                  <a:pt x="17889" y="122543"/>
                  <a:pt x="0" y="104679"/>
                  <a:pt x="0" y="82605"/>
                </a:cubicBezTo>
                <a:cubicBezTo>
                  <a:pt x="0" y="72015"/>
                  <a:pt x="4211" y="61858"/>
                  <a:pt x="11688" y="54381"/>
                </a:cubicBezTo>
                <a:lnTo>
                  <a:pt x="29832" y="36237"/>
                </a:lnTo>
                <a:cubicBezTo>
                  <a:pt x="37309" y="28760"/>
                  <a:pt x="47466" y="24549"/>
                  <a:pt x="58056" y="24549"/>
                </a:cubicBezTo>
                <a:cubicBezTo>
                  <a:pt x="80155" y="24549"/>
                  <a:pt x="97993" y="42566"/>
                  <a:pt x="97993" y="64589"/>
                </a:cubicBezTo>
                <a:cubicBezTo>
                  <a:pt x="97993" y="64921"/>
                  <a:pt x="97993" y="65252"/>
                  <a:pt x="97993" y="65584"/>
                </a:cubicBezTo>
                <a:cubicBezTo>
                  <a:pt x="97891" y="70101"/>
                  <a:pt x="94140" y="73648"/>
                  <a:pt x="89623" y="73546"/>
                </a:cubicBezTo>
                <a:cubicBezTo>
                  <a:pt x="85106" y="73444"/>
                  <a:pt x="81559" y="69693"/>
                  <a:pt x="81661" y="65176"/>
                </a:cubicBezTo>
                <a:cubicBezTo>
                  <a:pt x="81661" y="64972"/>
                  <a:pt x="81661" y="64793"/>
                  <a:pt x="81661" y="64589"/>
                </a:cubicBezTo>
                <a:cubicBezTo>
                  <a:pt x="81661" y="55989"/>
                  <a:pt x="77068" y="48435"/>
                  <a:pt x="70229" y="44276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910186" y="3148848"/>
            <a:ext cx="139640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Cross-Study Discovery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81535" y="3410164"/>
            <a:ext cx="196803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patterns across studies.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9911" y="4177779"/>
            <a:ext cx="11537078" cy="2137887"/>
          </a:xfrm>
          <a:custGeom>
            <a:avLst/>
            <a:gdLst/>
            <a:ahLst/>
            <a:cxnLst/>
            <a:rect l="l" t="t" r="r" b="b"/>
            <a:pathLst>
              <a:path w="11537078" h="2137887">
                <a:moveTo>
                  <a:pt x="65334" y="0"/>
                </a:moveTo>
                <a:lnTo>
                  <a:pt x="11471744" y="0"/>
                </a:lnTo>
                <a:cubicBezTo>
                  <a:pt x="11507827" y="0"/>
                  <a:pt x="11537078" y="29251"/>
                  <a:pt x="11537078" y="65334"/>
                </a:cubicBezTo>
                <a:lnTo>
                  <a:pt x="11537078" y="2072553"/>
                </a:lnTo>
                <a:cubicBezTo>
                  <a:pt x="11537078" y="2108636"/>
                  <a:pt x="11507827" y="2137887"/>
                  <a:pt x="11471744" y="2137887"/>
                </a:cubicBezTo>
                <a:lnTo>
                  <a:pt x="65334" y="2137887"/>
                </a:lnTo>
                <a:cubicBezTo>
                  <a:pt x="29251" y="2137887"/>
                  <a:pt x="0" y="2108636"/>
                  <a:pt x="0" y="2072553"/>
                </a:cubicBezTo>
                <a:lnTo>
                  <a:pt x="0" y="65334"/>
                </a:lnTo>
                <a:cubicBezTo>
                  <a:pt x="0" y="29275"/>
                  <a:pt x="29275" y="0"/>
                  <a:pt x="65334" y="0"/>
                </a:cubicBezTo>
                <a:close/>
              </a:path>
            </a:pathLst>
          </a:custGeom>
          <a:solidFill>
            <a:srgbClr val="1A2129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6499" y="4344370"/>
            <a:ext cx="1128556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Intelligence in Action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592902" y="4710211"/>
            <a:ext cx="511198" cy="511198"/>
          </a:xfrm>
          <a:custGeom>
            <a:avLst/>
            <a:gdLst/>
            <a:ahLst/>
            <a:cxnLst/>
            <a:rect l="l" t="t" r="r" b="b"/>
            <a:pathLst>
              <a:path w="511198" h="511198">
                <a:moveTo>
                  <a:pt x="255599" y="0"/>
                </a:moveTo>
                <a:lnTo>
                  <a:pt x="255599" y="0"/>
                </a:lnTo>
                <a:cubicBezTo>
                  <a:pt x="396668" y="0"/>
                  <a:pt x="511198" y="114530"/>
                  <a:pt x="511198" y="255599"/>
                </a:cubicBezTo>
                <a:lnTo>
                  <a:pt x="511198" y="255599"/>
                </a:lnTo>
                <a:cubicBezTo>
                  <a:pt x="511198" y="396668"/>
                  <a:pt x="396668" y="511198"/>
                  <a:pt x="255599" y="511198"/>
                </a:cubicBezTo>
                <a:lnTo>
                  <a:pt x="255599" y="511198"/>
                </a:lnTo>
                <a:cubicBezTo>
                  <a:pt x="114530" y="511198"/>
                  <a:pt x="0" y="396668"/>
                  <a:pt x="0" y="255599"/>
                </a:cubicBezTo>
                <a:lnTo>
                  <a:pt x="0" y="255599"/>
                </a:lnTo>
                <a:cubicBezTo>
                  <a:pt x="0" y="114530"/>
                  <a:pt x="114530" y="0"/>
                  <a:pt x="2555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749283" y="4850668"/>
            <a:ext cx="19598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3835" y="5291638"/>
            <a:ext cx="27683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Headache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7918" y="5520289"/>
            <a:ext cx="27601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match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25929" y="4710211"/>
            <a:ext cx="511198" cy="511198"/>
          </a:xfrm>
          <a:custGeom>
            <a:avLst/>
            <a:gdLst/>
            <a:ahLst/>
            <a:cxnLst/>
            <a:rect l="l" t="t" r="r" b="b"/>
            <a:pathLst>
              <a:path w="511198" h="511198">
                <a:moveTo>
                  <a:pt x="255599" y="0"/>
                </a:moveTo>
                <a:lnTo>
                  <a:pt x="255599" y="0"/>
                </a:lnTo>
                <a:cubicBezTo>
                  <a:pt x="396668" y="0"/>
                  <a:pt x="511198" y="114530"/>
                  <a:pt x="511198" y="255599"/>
                </a:cubicBezTo>
                <a:lnTo>
                  <a:pt x="511198" y="255599"/>
                </a:lnTo>
                <a:cubicBezTo>
                  <a:pt x="511198" y="396668"/>
                  <a:pt x="396668" y="511198"/>
                  <a:pt x="255599" y="511198"/>
                </a:cubicBezTo>
                <a:lnTo>
                  <a:pt x="255599" y="511198"/>
                </a:lnTo>
                <a:cubicBezTo>
                  <a:pt x="114530" y="511198"/>
                  <a:pt x="0" y="396668"/>
                  <a:pt x="0" y="255599"/>
                </a:cubicBezTo>
                <a:lnTo>
                  <a:pt x="0" y="255599"/>
                </a:lnTo>
                <a:cubicBezTo>
                  <a:pt x="0" y="114530"/>
                  <a:pt x="114530" y="0"/>
                  <a:pt x="2555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70979" y="4850668"/>
            <a:ext cx="220485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296862" y="5291638"/>
            <a:ext cx="27683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00945" y="5520289"/>
            <a:ext cx="27601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Auto-detected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59058" y="4710211"/>
            <a:ext cx="511198" cy="511198"/>
          </a:xfrm>
          <a:custGeom>
            <a:avLst/>
            <a:gdLst/>
            <a:ahLst/>
            <a:cxnLst/>
            <a:rect l="l" t="t" r="r" b="b"/>
            <a:pathLst>
              <a:path w="511198" h="511198">
                <a:moveTo>
                  <a:pt x="255599" y="0"/>
                </a:moveTo>
                <a:lnTo>
                  <a:pt x="255599" y="0"/>
                </a:lnTo>
                <a:cubicBezTo>
                  <a:pt x="396668" y="0"/>
                  <a:pt x="511198" y="114530"/>
                  <a:pt x="511198" y="255599"/>
                </a:cubicBezTo>
                <a:lnTo>
                  <a:pt x="511198" y="255599"/>
                </a:lnTo>
                <a:cubicBezTo>
                  <a:pt x="511198" y="396668"/>
                  <a:pt x="396668" y="511198"/>
                  <a:pt x="255599" y="511198"/>
                </a:cubicBezTo>
                <a:lnTo>
                  <a:pt x="255599" y="511198"/>
                </a:lnTo>
                <a:cubicBezTo>
                  <a:pt x="114530" y="511198"/>
                  <a:pt x="0" y="396668"/>
                  <a:pt x="0" y="255599"/>
                </a:cubicBezTo>
                <a:lnTo>
                  <a:pt x="0" y="255599"/>
                </a:lnTo>
                <a:cubicBezTo>
                  <a:pt x="0" y="114530"/>
                  <a:pt x="114530" y="0"/>
                  <a:pt x="2555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420543" y="4850668"/>
            <a:ext cx="18782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29992" y="5291638"/>
            <a:ext cx="27683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Cephalgia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34075" y="5520289"/>
            <a:ext cx="27601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synonym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092086" y="4710211"/>
            <a:ext cx="511198" cy="511198"/>
          </a:xfrm>
          <a:custGeom>
            <a:avLst/>
            <a:gdLst/>
            <a:ahLst/>
            <a:cxnLst/>
            <a:rect l="l" t="t" r="r" b="b"/>
            <a:pathLst>
              <a:path w="511198" h="511198">
                <a:moveTo>
                  <a:pt x="255599" y="0"/>
                </a:moveTo>
                <a:lnTo>
                  <a:pt x="255599" y="0"/>
                </a:lnTo>
                <a:cubicBezTo>
                  <a:pt x="396668" y="0"/>
                  <a:pt x="511198" y="114530"/>
                  <a:pt x="511198" y="255599"/>
                </a:cubicBezTo>
                <a:lnTo>
                  <a:pt x="511198" y="255599"/>
                </a:lnTo>
                <a:cubicBezTo>
                  <a:pt x="511198" y="396668"/>
                  <a:pt x="396668" y="511198"/>
                  <a:pt x="255599" y="511198"/>
                </a:cubicBezTo>
                <a:lnTo>
                  <a:pt x="255599" y="511198"/>
                </a:lnTo>
                <a:cubicBezTo>
                  <a:pt x="114530" y="511198"/>
                  <a:pt x="0" y="396668"/>
                  <a:pt x="0" y="255599"/>
                </a:cubicBezTo>
                <a:lnTo>
                  <a:pt x="0" y="255599"/>
                </a:lnTo>
                <a:cubicBezTo>
                  <a:pt x="0" y="114530"/>
                  <a:pt x="114530" y="0"/>
                  <a:pt x="2555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0205288" y="4850668"/>
            <a:ext cx="285814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63019" y="5291638"/>
            <a:ext cx="27683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 Pain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67102" y="5520289"/>
            <a:ext cx="27601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concept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96499" y="5817536"/>
            <a:ext cx="11203901" cy="6533"/>
          </a:xfrm>
          <a:custGeom>
            <a:avLst/>
            <a:gdLst/>
            <a:ahLst/>
            <a:cxnLst/>
            <a:rect l="l" t="t" r="r" b="b"/>
            <a:pathLst>
              <a:path w="11203901" h="6533">
                <a:moveTo>
                  <a:pt x="0" y="0"/>
                </a:moveTo>
                <a:lnTo>
                  <a:pt x="11203901" y="0"/>
                </a:lnTo>
                <a:lnTo>
                  <a:pt x="11203901" y="6533"/>
                </a:lnTo>
                <a:lnTo>
                  <a:pt x="0" y="6533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12832" y="5977591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01828" y="5951458"/>
            <a:ext cx="1106390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Found safety signals in Studies 10 &amp; 11 that were missed by standard keyword search.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716" y="375716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33448" y="375716"/>
            <a:ext cx="385109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9005" y="507217"/>
            <a:ext cx="9345948" cy="37572"/>
          </a:xfrm>
          <a:custGeom>
            <a:avLst/>
            <a:gdLst/>
            <a:ahLst/>
            <a:cxnLst/>
            <a:rect l="l" t="t" r="r" b="b"/>
            <a:pathLst>
              <a:path w="9345948" h="37572">
                <a:moveTo>
                  <a:pt x="0" y="0"/>
                </a:moveTo>
                <a:lnTo>
                  <a:pt x="9345948" y="0"/>
                </a:lnTo>
                <a:lnTo>
                  <a:pt x="9345948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43323" y="432074"/>
            <a:ext cx="163436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kern="0" spc="10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5716" y="789005"/>
            <a:ext cx="11665997" cy="5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Data to Actionable Insights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5716" y="1427723"/>
            <a:ext cx="1153449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NEST 2.0 Dashboard: Visualizing Risk in Real-Time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3231" y="1810953"/>
            <a:ext cx="5631990" cy="3171047"/>
          </a:xfrm>
          <a:custGeom>
            <a:avLst/>
            <a:gdLst/>
            <a:ahLst/>
            <a:cxnLst/>
            <a:rect l="l" t="t" r="r" b="b"/>
            <a:pathLst>
              <a:path w="5631990" h="3171047">
                <a:moveTo>
                  <a:pt x="75154" y="0"/>
                </a:moveTo>
                <a:lnTo>
                  <a:pt x="5556836" y="0"/>
                </a:lnTo>
                <a:cubicBezTo>
                  <a:pt x="5598343" y="0"/>
                  <a:pt x="5631990" y="33648"/>
                  <a:pt x="5631990" y="75154"/>
                </a:cubicBezTo>
                <a:lnTo>
                  <a:pt x="5631990" y="3095893"/>
                </a:lnTo>
                <a:cubicBezTo>
                  <a:pt x="5631990" y="3137400"/>
                  <a:pt x="5598343" y="3171047"/>
                  <a:pt x="5556836" y="3171047"/>
                </a:cubicBezTo>
                <a:lnTo>
                  <a:pt x="75154" y="3171047"/>
                </a:lnTo>
                <a:cubicBezTo>
                  <a:pt x="33648" y="3171047"/>
                  <a:pt x="0" y="3137400"/>
                  <a:pt x="0" y="3095893"/>
                </a:cubicBezTo>
                <a:lnTo>
                  <a:pt x="0" y="75154"/>
                </a:lnTo>
                <a:cubicBezTo>
                  <a:pt x="0" y="33648"/>
                  <a:pt x="33648" y="0"/>
                  <a:pt x="751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1032" y="1968755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75145" y="0"/>
                </a:moveTo>
                <a:lnTo>
                  <a:pt x="450858" y="0"/>
                </a:lnTo>
                <a:cubicBezTo>
                  <a:pt x="492332" y="0"/>
                  <a:pt x="526003" y="33671"/>
                  <a:pt x="526003" y="75145"/>
                </a:cubicBezTo>
                <a:lnTo>
                  <a:pt x="526003" y="450858"/>
                </a:lnTo>
                <a:cubicBezTo>
                  <a:pt x="526003" y="492360"/>
                  <a:pt x="492360" y="526003"/>
                  <a:pt x="450858" y="526003"/>
                </a:cubicBezTo>
                <a:lnTo>
                  <a:pt x="75145" y="526003"/>
                </a:lnTo>
                <a:cubicBezTo>
                  <a:pt x="33671" y="526003"/>
                  <a:pt x="0" y="492332"/>
                  <a:pt x="0" y="450858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91318" y="2119042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14089" y="14089"/>
                </a:moveTo>
                <a:cubicBezTo>
                  <a:pt x="21883" y="14089"/>
                  <a:pt x="28179" y="20386"/>
                  <a:pt x="28179" y="28179"/>
                </a:cubicBezTo>
                <a:lnTo>
                  <a:pt x="28179" y="176117"/>
                </a:lnTo>
                <a:cubicBezTo>
                  <a:pt x="28179" y="179992"/>
                  <a:pt x="31349" y="183162"/>
                  <a:pt x="35223" y="183162"/>
                </a:cubicBezTo>
                <a:lnTo>
                  <a:pt x="211341" y="183162"/>
                </a:lnTo>
                <a:cubicBezTo>
                  <a:pt x="219134" y="183162"/>
                  <a:pt x="225430" y="189458"/>
                  <a:pt x="225430" y="197251"/>
                </a:cubicBezTo>
                <a:cubicBezTo>
                  <a:pt x="225430" y="205044"/>
                  <a:pt x="219134" y="211341"/>
                  <a:pt x="211341" y="211341"/>
                </a:cubicBezTo>
                <a:lnTo>
                  <a:pt x="35223" y="211341"/>
                </a:lnTo>
                <a:cubicBezTo>
                  <a:pt x="15762" y="211341"/>
                  <a:pt x="0" y="195578"/>
                  <a:pt x="0" y="176117"/>
                </a:cubicBezTo>
                <a:lnTo>
                  <a:pt x="0" y="28179"/>
                </a:lnTo>
                <a:cubicBezTo>
                  <a:pt x="0" y="20386"/>
                  <a:pt x="6296" y="14089"/>
                  <a:pt x="14089" y="14089"/>
                </a:cubicBezTo>
                <a:close/>
                <a:moveTo>
                  <a:pt x="105670" y="42268"/>
                </a:moveTo>
                <a:cubicBezTo>
                  <a:pt x="108620" y="42268"/>
                  <a:pt x="111438" y="43501"/>
                  <a:pt x="113463" y="45702"/>
                </a:cubicBezTo>
                <a:lnTo>
                  <a:pt x="144768" y="79825"/>
                </a:lnTo>
                <a:lnTo>
                  <a:pt x="165110" y="59440"/>
                </a:lnTo>
                <a:cubicBezTo>
                  <a:pt x="169249" y="55301"/>
                  <a:pt x="175941" y="55301"/>
                  <a:pt x="180036" y="59440"/>
                </a:cubicBezTo>
                <a:lnTo>
                  <a:pt x="208214" y="87618"/>
                </a:lnTo>
                <a:cubicBezTo>
                  <a:pt x="210196" y="89600"/>
                  <a:pt x="211296" y="92285"/>
                  <a:pt x="211296" y="95103"/>
                </a:cubicBezTo>
                <a:lnTo>
                  <a:pt x="211296" y="144416"/>
                </a:lnTo>
                <a:cubicBezTo>
                  <a:pt x="211296" y="150272"/>
                  <a:pt x="206585" y="154983"/>
                  <a:pt x="200729" y="154983"/>
                </a:cubicBezTo>
                <a:lnTo>
                  <a:pt x="66880" y="154983"/>
                </a:lnTo>
                <a:cubicBezTo>
                  <a:pt x="61025" y="154983"/>
                  <a:pt x="56313" y="150272"/>
                  <a:pt x="56313" y="144416"/>
                </a:cubicBezTo>
                <a:lnTo>
                  <a:pt x="56313" y="95103"/>
                </a:lnTo>
                <a:cubicBezTo>
                  <a:pt x="56313" y="92461"/>
                  <a:pt x="57326" y="89908"/>
                  <a:pt x="59087" y="87970"/>
                </a:cubicBezTo>
                <a:lnTo>
                  <a:pt x="97833" y="45702"/>
                </a:lnTo>
                <a:cubicBezTo>
                  <a:pt x="99814" y="43501"/>
                  <a:pt x="102676" y="42268"/>
                  <a:pt x="105626" y="42268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79750" y="2081470"/>
            <a:ext cx="1643760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Visualizing Risk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32" y="2607473"/>
            <a:ext cx="5316388" cy="1052006"/>
          </a:xfrm>
          <a:custGeom>
            <a:avLst/>
            <a:gdLst/>
            <a:ahLst/>
            <a:cxnLst/>
            <a:rect l="l" t="t" r="r" b="b"/>
            <a:pathLst>
              <a:path w="5316388" h="1052006">
                <a:moveTo>
                  <a:pt x="75145" y="0"/>
                </a:moveTo>
                <a:lnTo>
                  <a:pt x="5241243" y="0"/>
                </a:lnTo>
                <a:cubicBezTo>
                  <a:pt x="5282745" y="0"/>
                  <a:pt x="5316388" y="33643"/>
                  <a:pt x="5316388" y="75145"/>
                </a:cubicBezTo>
                <a:lnTo>
                  <a:pt x="5316388" y="976861"/>
                </a:lnTo>
                <a:cubicBezTo>
                  <a:pt x="5316388" y="1018363"/>
                  <a:pt x="5282745" y="1052006"/>
                  <a:pt x="5241243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72532" y="2776546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16350" y="58618"/>
                </a:moveTo>
                <a:lnTo>
                  <a:pt x="25420" y="67688"/>
                </a:lnTo>
                <a:cubicBezTo>
                  <a:pt x="27181" y="69449"/>
                  <a:pt x="29558" y="70447"/>
                  <a:pt x="32053" y="70447"/>
                </a:cubicBezTo>
                <a:lnTo>
                  <a:pt x="38364" y="70447"/>
                </a:lnTo>
                <a:cubicBezTo>
                  <a:pt x="40859" y="70447"/>
                  <a:pt x="43237" y="71445"/>
                  <a:pt x="44998" y="73206"/>
                </a:cubicBezTo>
                <a:lnTo>
                  <a:pt x="53598" y="81806"/>
                </a:lnTo>
                <a:cubicBezTo>
                  <a:pt x="55359" y="83568"/>
                  <a:pt x="56357" y="85945"/>
                  <a:pt x="56357" y="88440"/>
                </a:cubicBezTo>
                <a:lnTo>
                  <a:pt x="56357" y="99447"/>
                </a:lnTo>
                <a:cubicBezTo>
                  <a:pt x="56357" y="101942"/>
                  <a:pt x="57355" y="104320"/>
                  <a:pt x="59117" y="106081"/>
                </a:cubicBezTo>
                <a:lnTo>
                  <a:pt x="63021" y="109985"/>
                </a:lnTo>
                <a:cubicBezTo>
                  <a:pt x="64782" y="111746"/>
                  <a:pt x="65780" y="114124"/>
                  <a:pt x="65780" y="116619"/>
                </a:cubicBezTo>
                <a:lnTo>
                  <a:pt x="65780" y="122108"/>
                </a:lnTo>
                <a:cubicBezTo>
                  <a:pt x="65780" y="127303"/>
                  <a:pt x="69977" y="131501"/>
                  <a:pt x="75173" y="131501"/>
                </a:cubicBezTo>
                <a:cubicBezTo>
                  <a:pt x="80368" y="131501"/>
                  <a:pt x="84566" y="127303"/>
                  <a:pt x="84566" y="122108"/>
                </a:cubicBezTo>
                <a:lnTo>
                  <a:pt x="84566" y="121315"/>
                </a:lnTo>
                <a:cubicBezTo>
                  <a:pt x="84566" y="118820"/>
                  <a:pt x="85564" y="116443"/>
                  <a:pt x="87325" y="114682"/>
                </a:cubicBezTo>
                <a:lnTo>
                  <a:pt x="100622" y="101385"/>
                </a:lnTo>
                <a:cubicBezTo>
                  <a:pt x="102383" y="99624"/>
                  <a:pt x="103381" y="97246"/>
                  <a:pt x="103381" y="94751"/>
                </a:cubicBezTo>
                <a:lnTo>
                  <a:pt x="103381" y="84566"/>
                </a:lnTo>
                <a:cubicBezTo>
                  <a:pt x="103381" y="79370"/>
                  <a:pt x="99183" y="75173"/>
                  <a:pt x="93988" y="75173"/>
                </a:cubicBezTo>
                <a:lnTo>
                  <a:pt x="69713" y="75173"/>
                </a:lnTo>
                <a:cubicBezTo>
                  <a:pt x="67218" y="75173"/>
                  <a:pt x="64840" y="74175"/>
                  <a:pt x="63079" y="72413"/>
                </a:cubicBezTo>
                <a:lnTo>
                  <a:pt x="58383" y="67717"/>
                </a:lnTo>
                <a:cubicBezTo>
                  <a:pt x="57150" y="66484"/>
                  <a:pt x="56446" y="64782"/>
                  <a:pt x="56446" y="63021"/>
                </a:cubicBezTo>
                <a:cubicBezTo>
                  <a:pt x="56446" y="59351"/>
                  <a:pt x="59410" y="56387"/>
                  <a:pt x="63079" y="56387"/>
                </a:cubicBezTo>
                <a:lnTo>
                  <a:pt x="73265" y="56387"/>
                </a:lnTo>
                <a:cubicBezTo>
                  <a:pt x="76934" y="56387"/>
                  <a:pt x="79898" y="53422"/>
                  <a:pt x="79898" y="49753"/>
                </a:cubicBezTo>
                <a:cubicBezTo>
                  <a:pt x="79898" y="47992"/>
                  <a:pt x="79194" y="46289"/>
                  <a:pt x="77961" y="45057"/>
                </a:cubicBezTo>
                <a:lnTo>
                  <a:pt x="72179" y="39274"/>
                </a:lnTo>
                <a:cubicBezTo>
                  <a:pt x="71034" y="38159"/>
                  <a:pt x="70447" y="36720"/>
                  <a:pt x="70447" y="35223"/>
                </a:cubicBezTo>
                <a:cubicBezTo>
                  <a:pt x="70447" y="33726"/>
                  <a:pt x="71034" y="32288"/>
                  <a:pt x="72120" y="31202"/>
                </a:cubicBezTo>
                <a:lnTo>
                  <a:pt x="77198" y="26124"/>
                </a:lnTo>
                <a:cubicBezTo>
                  <a:pt x="78900" y="24422"/>
                  <a:pt x="79869" y="22103"/>
                  <a:pt x="79869" y="19696"/>
                </a:cubicBezTo>
                <a:cubicBezTo>
                  <a:pt x="79869" y="17582"/>
                  <a:pt x="79165" y="15674"/>
                  <a:pt x="77991" y="14148"/>
                </a:cubicBezTo>
                <a:cubicBezTo>
                  <a:pt x="77051" y="14119"/>
                  <a:pt x="76112" y="14089"/>
                  <a:pt x="75173" y="14089"/>
                </a:cubicBezTo>
                <a:cubicBezTo>
                  <a:pt x="47170" y="14089"/>
                  <a:pt x="23600" y="32934"/>
                  <a:pt x="16379" y="58618"/>
                </a:cubicBezTo>
                <a:close/>
                <a:moveTo>
                  <a:pt x="136197" y="75143"/>
                </a:moveTo>
                <a:cubicBezTo>
                  <a:pt x="136197" y="64987"/>
                  <a:pt x="133732" y="55418"/>
                  <a:pt x="129329" y="47023"/>
                </a:cubicBezTo>
                <a:cubicBezTo>
                  <a:pt x="127450" y="47287"/>
                  <a:pt x="125601" y="48168"/>
                  <a:pt x="124074" y="49694"/>
                </a:cubicBezTo>
                <a:lnTo>
                  <a:pt x="120141" y="53628"/>
                </a:lnTo>
                <a:cubicBezTo>
                  <a:pt x="118380" y="55389"/>
                  <a:pt x="117382" y="57766"/>
                  <a:pt x="117382" y="60261"/>
                </a:cubicBezTo>
                <a:lnTo>
                  <a:pt x="117382" y="70447"/>
                </a:lnTo>
                <a:cubicBezTo>
                  <a:pt x="117382" y="75642"/>
                  <a:pt x="121580" y="79840"/>
                  <a:pt x="126775" y="79840"/>
                </a:cubicBezTo>
                <a:lnTo>
                  <a:pt x="133849" y="79840"/>
                </a:lnTo>
                <a:cubicBezTo>
                  <a:pt x="134583" y="79840"/>
                  <a:pt x="135317" y="79752"/>
                  <a:pt x="135992" y="79605"/>
                </a:cubicBezTo>
                <a:cubicBezTo>
                  <a:pt x="136109" y="78137"/>
                  <a:pt x="136139" y="76640"/>
                  <a:pt x="136139" y="75143"/>
                </a:cubicBezTo>
                <a:close/>
                <a:moveTo>
                  <a:pt x="0" y="75143"/>
                </a:moveTo>
                <a:cubicBezTo>
                  <a:pt x="0" y="33671"/>
                  <a:pt x="33671" y="0"/>
                  <a:pt x="75143" y="0"/>
                </a:cubicBezTo>
                <a:cubicBezTo>
                  <a:pt x="116616" y="0"/>
                  <a:pt x="150287" y="33671"/>
                  <a:pt x="150287" y="75143"/>
                </a:cubicBezTo>
                <a:cubicBezTo>
                  <a:pt x="150287" y="116616"/>
                  <a:pt x="116616" y="150287"/>
                  <a:pt x="75143" y="150287"/>
                </a:cubicBezTo>
                <a:cubicBezTo>
                  <a:pt x="33671" y="150287"/>
                  <a:pt x="0" y="116616"/>
                  <a:pt x="0" y="7514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6748" y="2720188"/>
            <a:ext cx="127743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Risk 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47" y="3058333"/>
            <a:ext cx="5166102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live heatmap of Country/Region performance. </a:t>
            </a:r>
            <a:r>
              <a:rPr lang="en-US" sz="1183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zones</a:t>
            </a: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high risk requiring immediate attention.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032" y="3772194"/>
            <a:ext cx="5316388" cy="1052006"/>
          </a:xfrm>
          <a:custGeom>
            <a:avLst/>
            <a:gdLst/>
            <a:ahLst/>
            <a:cxnLst/>
            <a:rect l="l" t="t" r="r" b="b"/>
            <a:pathLst>
              <a:path w="5316388" h="1052006">
                <a:moveTo>
                  <a:pt x="75145" y="0"/>
                </a:moveTo>
                <a:lnTo>
                  <a:pt x="5241243" y="0"/>
                </a:lnTo>
                <a:cubicBezTo>
                  <a:pt x="5282745" y="0"/>
                  <a:pt x="5316388" y="33643"/>
                  <a:pt x="5316388" y="75145"/>
                </a:cubicBezTo>
                <a:lnTo>
                  <a:pt x="5316388" y="976861"/>
                </a:lnTo>
                <a:cubicBezTo>
                  <a:pt x="5316388" y="1018363"/>
                  <a:pt x="5282745" y="1052006"/>
                  <a:pt x="5241243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1318" y="3941267"/>
            <a:ext cx="112715" cy="150287"/>
          </a:xfrm>
          <a:custGeom>
            <a:avLst/>
            <a:gdLst/>
            <a:ahLst/>
            <a:cxnLst/>
            <a:rect l="l" t="t" r="r" b="b"/>
            <a:pathLst>
              <a:path w="112715" h="150287">
                <a:moveTo>
                  <a:pt x="0" y="55359"/>
                </a:moveTo>
                <a:cubicBezTo>
                  <a:pt x="0" y="24774"/>
                  <a:pt x="25243" y="0"/>
                  <a:pt x="56357" y="0"/>
                </a:cubicBezTo>
                <a:cubicBezTo>
                  <a:pt x="87471" y="0"/>
                  <a:pt x="112715" y="24774"/>
                  <a:pt x="112715" y="55359"/>
                </a:cubicBezTo>
                <a:cubicBezTo>
                  <a:pt x="112715" y="90377"/>
                  <a:pt x="77433" y="132352"/>
                  <a:pt x="62698" y="148349"/>
                </a:cubicBezTo>
                <a:cubicBezTo>
                  <a:pt x="59234" y="152106"/>
                  <a:pt x="53452" y="152106"/>
                  <a:pt x="49988" y="148349"/>
                </a:cubicBezTo>
                <a:cubicBezTo>
                  <a:pt x="35253" y="132352"/>
                  <a:pt x="-29" y="90377"/>
                  <a:pt x="-29" y="55359"/>
                </a:cubicBezTo>
                <a:close/>
                <a:moveTo>
                  <a:pt x="56357" y="75143"/>
                </a:moveTo>
                <a:cubicBezTo>
                  <a:pt x="66726" y="75143"/>
                  <a:pt x="75143" y="66726"/>
                  <a:pt x="75143" y="56357"/>
                </a:cubicBezTo>
                <a:cubicBezTo>
                  <a:pt x="75143" y="45989"/>
                  <a:pt x="66726" y="37572"/>
                  <a:pt x="56357" y="37572"/>
                </a:cubicBezTo>
                <a:cubicBezTo>
                  <a:pt x="45989" y="37572"/>
                  <a:pt x="37572" y="45989"/>
                  <a:pt x="37572" y="56357"/>
                </a:cubicBezTo>
                <a:cubicBezTo>
                  <a:pt x="37572" y="66726"/>
                  <a:pt x="45989" y="75143"/>
                  <a:pt x="56357" y="7514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6748" y="3884909"/>
            <a:ext cx="1202293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Site Drill-Down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47" y="4223054"/>
            <a:ext cx="5166102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any site to see exactly why it was flagged (e.g., "3x Average Query Volume"). </a:t>
            </a:r>
            <a:r>
              <a:rPr lang="en-US" sz="1183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root cause analysis.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7601" y="1810953"/>
            <a:ext cx="5631990" cy="3171047"/>
          </a:xfrm>
          <a:custGeom>
            <a:avLst/>
            <a:gdLst/>
            <a:ahLst/>
            <a:cxnLst/>
            <a:rect l="l" t="t" r="r" b="b"/>
            <a:pathLst>
              <a:path w="5631990" h="3171047">
                <a:moveTo>
                  <a:pt x="75154" y="0"/>
                </a:moveTo>
                <a:lnTo>
                  <a:pt x="5556836" y="0"/>
                </a:lnTo>
                <a:cubicBezTo>
                  <a:pt x="5598343" y="0"/>
                  <a:pt x="5631990" y="33648"/>
                  <a:pt x="5631990" y="75154"/>
                </a:cubicBezTo>
                <a:lnTo>
                  <a:pt x="5631990" y="3095893"/>
                </a:lnTo>
                <a:cubicBezTo>
                  <a:pt x="5631990" y="3137400"/>
                  <a:pt x="5598343" y="3171047"/>
                  <a:pt x="5556836" y="3171047"/>
                </a:cubicBezTo>
                <a:lnTo>
                  <a:pt x="75154" y="3171047"/>
                </a:lnTo>
                <a:cubicBezTo>
                  <a:pt x="33648" y="3171047"/>
                  <a:pt x="0" y="3137400"/>
                  <a:pt x="0" y="3095893"/>
                </a:cubicBezTo>
                <a:lnTo>
                  <a:pt x="0" y="75154"/>
                </a:lnTo>
                <a:cubicBezTo>
                  <a:pt x="0" y="33648"/>
                  <a:pt x="33648" y="0"/>
                  <a:pt x="75154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35402" y="1968755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75145" y="0"/>
                </a:moveTo>
                <a:lnTo>
                  <a:pt x="450858" y="0"/>
                </a:lnTo>
                <a:cubicBezTo>
                  <a:pt x="492332" y="0"/>
                  <a:pt x="526003" y="33671"/>
                  <a:pt x="526003" y="75145"/>
                </a:cubicBezTo>
                <a:lnTo>
                  <a:pt x="526003" y="450858"/>
                </a:lnTo>
                <a:cubicBezTo>
                  <a:pt x="526003" y="492360"/>
                  <a:pt x="492360" y="526003"/>
                  <a:pt x="450858" y="526003"/>
                </a:cubicBezTo>
                <a:lnTo>
                  <a:pt x="75145" y="526003"/>
                </a:lnTo>
                <a:cubicBezTo>
                  <a:pt x="33671" y="526003"/>
                  <a:pt x="0" y="492332"/>
                  <a:pt x="0" y="450858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57510" y="2119042"/>
            <a:ext cx="281787" cy="225430"/>
          </a:xfrm>
          <a:custGeom>
            <a:avLst/>
            <a:gdLst/>
            <a:ahLst/>
            <a:cxnLst/>
            <a:rect l="l" t="t" r="r" b="b"/>
            <a:pathLst>
              <a:path w="281787" h="225430">
                <a:moveTo>
                  <a:pt x="154983" y="0"/>
                </a:moveTo>
                <a:cubicBezTo>
                  <a:pt x="154983" y="-7793"/>
                  <a:pt x="148687" y="-14089"/>
                  <a:pt x="140894" y="-14089"/>
                </a:cubicBezTo>
                <a:cubicBezTo>
                  <a:pt x="133101" y="-14089"/>
                  <a:pt x="126804" y="-7793"/>
                  <a:pt x="126804" y="0"/>
                </a:cubicBezTo>
                <a:lnTo>
                  <a:pt x="126804" y="28179"/>
                </a:lnTo>
                <a:lnTo>
                  <a:pt x="84536" y="28179"/>
                </a:lnTo>
                <a:cubicBezTo>
                  <a:pt x="61201" y="28179"/>
                  <a:pt x="42268" y="47111"/>
                  <a:pt x="42268" y="70447"/>
                </a:cubicBezTo>
                <a:lnTo>
                  <a:pt x="42268" y="169072"/>
                </a:lnTo>
                <a:cubicBezTo>
                  <a:pt x="42268" y="192408"/>
                  <a:pt x="61201" y="211341"/>
                  <a:pt x="84536" y="211341"/>
                </a:cubicBezTo>
                <a:lnTo>
                  <a:pt x="197251" y="211341"/>
                </a:lnTo>
                <a:cubicBezTo>
                  <a:pt x="220587" y="211341"/>
                  <a:pt x="239519" y="192408"/>
                  <a:pt x="239519" y="169072"/>
                </a:cubicBezTo>
                <a:lnTo>
                  <a:pt x="239519" y="70447"/>
                </a:lnTo>
                <a:cubicBezTo>
                  <a:pt x="239519" y="47111"/>
                  <a:pt x="220587" y="28179"/>
                  <a:pt x="197251" y="28179"/>
                </a:cubicBezTo>
                <a:lnTo>
                  <a:pt x="154983" y="28179"/>
                </a:lnTo>
                <a:lnTo>
                  <a:pt x="154983" y="0"/>
                </a:lnTo>
                <a:close/>
                <a:moveTo>
                  <a:pt x="70447" y="162028"/>
                </a:moveTo>
                <a:cubicBezTo>
                  <a:pt x="70447" y="156172"/>
                  <a:pt x="75158" y="151461"/>
                  <a:pt x="81014" y="151461"/>
                </a:cubicBezTo>
                <a:lnTo>
                  <a:pt x="95103" y="151461"/>
                </a:lnTo>
                <a:cubicBezTo>
                  <a:pt x="100959" y="151461"/>
                  <a:pt x="105670" y="156172"/>
                  <a:pt x="105670" y="162028"/>
                </a:cubicBezTo>
                <a:cubicBezTo>
                  <a:pt x="105670" y="167884"/>
                  <a:pt x="100959" y="172595"/>
                  <a:pt x="95103" y="172595"/>
                </a:cubicBezTo>
                <a:lnTo>
                  <a:pt x="81014" y="172595"/>
                </a:lnTo>
                <a:cubicBezTo>
                  <a:pt x="75158" y="172595"/>
                  <a:pt x="70447" y="167884"/>
                  <a:pt x="70447" y="162028"/>
                </a:cubicBezTo>
                <a:close/>
                <a:moveTo>
                  <a:pt x="123282" y="162028"/>
                </a:moveTo>
                <a:cubicBezTo>
                  <a:pt x="123282" y="156172"/>
                  <a:pt x="127993" y="151461"/>
                  <a:pt x="133849" y="151461"/>
                </a:cubicBezTo>
                <a:lnTo>
                  <a:pt x="147938" y="151461"/>
                </a:lnTo>
                <a:cubicBezTo>
                  <a:pt x="153794" y="151461"/>
                  <a:pt x="158505" y="156172"/>
                  <a:pt x="158505" y="162028"/>
                </a:cubicBezTo>
                <a:cubicBezTo>
                  <a:pt x="158505" y="167884"/>
                  <a:pt x="153794" y="172595"/>
                  <a:pt x="147938" y="172595"/>
                </a:cubicBezTo>
                <a:lnTo>
                  <a:pt x="133849" y="172595"/>
                </a:lnTo>
                <a:cubicBezTo>
                  <a:pt x="127993" y="172595"/>
                  <a:pt x="123282" y="167884"/>
                  <a:pt x="123282" y="162028"/>
                </a:cubicBezTo>
                <a:close/>
                <a:moveTo>
                  <a:pt x="176117" y="162028"/>
                </a:moveTo>
                <a:cubicBezTo>
                  <a:pt x="176117" y="156172"/>
                  <a:pt x="180828" y="151461"/>
                  <a:pt x="186684" y="151461"/>
                </a:cubicBezTo>
                <a:lnTo>
                  <a:pt x="200773" y="151461"/>
                </a:lnTo>
                <a:cubicBezTo>
                  <a:pt x="206629" y="151461"/>
                  <a:pt x="211341" y="156172"/>
                  <a:pt x="211341" y="162028"/>
                </a:cubicBezTo>
                <a:cubicBezTo>
                  <a:pt x="211341" y="167884"/>
                  <a:pt x="206629" y="172595"/>
                  <a:pt x="200773" y="172595"/>
                </a:cubicBezTo>
                <a:lnTo>
                  <a:pt x="186684" y="172595"/>
                </a:lnTo>
                <a:cubicBezTo>
                  <a:pt x="180828" y="172595"/>
                  <a:pt x="176117" y="167884"/>
                  <a:pt x="176117" y="162028"/>
                </a:cubicBezTo>
                <a:close/>
                <a:moveTo>
                  <a:pt x="98626" y="77492"/>
                </a:moveTo>
                <a:cubicBezTo>
                  <a:pt x="110290" y="77492"/>
                  <a:pt x="119760" y="86961"/>
                  <a:pt x="119760" y="98626"/>
                </a:cubicBezTo>
                <a:cubicBezTo>
                  <a:pt x="119760" y="110290"/>
                  <a:pt x="110290" y="119760"/>
                  <a:pt x="98626" y="119760"/>
                </a:cubicBezTo>
                <a:cubicBezTo>
                  <a:pt x="86961" y="119760"/>
                  <a:pt x="77492" y="110290"/>
                  <a:pt x="77492" y="98626"/>
                </a:cubicBezTo>
                <a:cubicBezTo>
                  <a:pt x="77492" y="86961"/>
                  <a:pt x="86961" y="77492"/>
                  <a:pt x="98626" y="77492"/>
                </a:cubicBezTo>
                <a:close/>
                <a:moveTo>
                  <a:pt x="162028" y="98626"/>
                </a:moveTo>
                <a:cubicBezTo>
                  <a:pt x="162028" y="86961"/>
                  <a:pt x="171498" y="77492"/>
                  <a:pt x="183162" y="77492"/>
                </a:cubicBezTo>
                <a:cubicBezTo>
                  <a:pt x="194826" y="77492"/>
                  <a:pt x="204296" y="86961"/>
                  <a:pt x="204296" y="98626"/>
                </a:cubicBezTo>
                <a:cubicBezTo>
                  <a:pt x="204296" y="110290"/>
                  <a:pt x="194826" y="119760"/>
                  <a:pt x="183162" y="119760"/>
                </a:cubicBezTo>
                <a:cubicBezTo>
                  <a:pt x="171498" y="119760"/>
                  <a:pt x="162028" y="110290"/>
                  <a:pt x="162028" y="98626"/>
                </a:cubicBezTo>
                <a:close/>
                <a:moveTo>
                  <a:pt x="28179" y="98626"/>
                </a:moveTo>
                <a:cubicBezTo>
                  <a:pt x="28179" y="90832"/>
                  <a:pt x="21883" y="84536"/>
                  <a:pt x="14089" y="84536"/>
                </a:cubicBezTo>
                <a:cubicBezTo>
                  <a:pt x="6296" y="84536"/>
                  <a:pt x="0" y="90832"/>
                  <a:pt x="0" y="98626"/>
                </a:cubicBezTo>
                <a:lnTo>
                  <a:pt x="0" y="140894"/>
                </a:lnTo>
                <a:cubicBezTo>
                  <a:pt x="0" y="148687"/>
                  <a:pt x="6296" y="154983"/>
                  <a:pt x="14089" y="154983"/>
                </a:cubicBezTo>
                <a:cubicBezTo>
                  <a:pt x="21883" y="154983"/>
                  <a:pt x="28179" y="148687"/>
                  <a:pt x="28179" y="140894"/>
                </a:cubicBezTo>
                <a:lnTo>
                  <a:pt x="28179" y="98626"/>
                </a:lnTo>
                <a:close/>
                <a:moveTo>
                  <a:pt x="267698" y="84536"/>
                </a:moveTo>
                <a:cubicBezTo>
                  <a:pt x="259905" y="84536"/>
                  <a:pt x="253609" y="90832"/>
                  <a:pt x="253609" y="98626"/>
                </a:cubicBezTo>
                <a:lnTo>
                  <a:pt x="253609" y="140894"/>
                </a:lnTo>
                <a:cubicBezTo>
                  <a:pt x="253609" y="148687"/>
                  <a:pt x="259905" y="154983"/>
                  <a:pt x="267698" y="154983"/>
                </a:cubicBezTo>
                <a:cubicBezTo>
                  <a:pt x="275491" y="154983"/>
                  <a:pt x="281787" y="148687"/>
                  <a:pt x="281787" y="140894"/>
                </a:cubicBezTo>
                <a:lnTo>
                  <a:pt x="281787" y="98626"/>
                </a:lnTo>
                <a:cubicBezTo>
                  <a:pt x="281787" y="90832"/>
                  <a:pt x="275491" y="84536"/>
                  <a:pt x="267698" y="8453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74120" y="2081470"/>
            <a:ext cx="127743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5402" y="2607473"/>
            <a:ext cx="5316388" cy="1052006"/>
          </a:xfrm>
          <a:custGeom>
            <a:avLst/>
            <a:gdLst/>
            <a:ahLst/>
            <a:cxnLst/>
            <a:rect l="l" t="t" r="r" b="b"/>
            <a:pathLst>
              <a:path w="5316388" h="1052006">
                <a:moveTo>
                  <a:pt x="75145" y="0"/>
                </a:moveTo>
                <a:lnTo>
                  <a:pt x="5241243" y="0"/>
                </a:lnTo>
                <a:cubicBezTo>
                  <a:pt x="5282745" y="0"/>
                  <a:pt x="5316388" y="33643"/>
                  <a:pt x="5316388" y="75145"/>
                </a:cubicBezTo>
                <a:lnTo>
                  <a:pt x="5316388" y="976861"/>
                </a:lnTo>
                <a:cubicBezTo>
                  <a:pt x="5316388" y="1018363"/>
                  <a:pt x="5282745" y="1052006"/>
                  <a:pt x="5241243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85688" y="2776546"/>
            <a:ext cx="112715" cy="150287"/>
          </a:xfrm>
          <a:custGeom>
            <a:avLst/>
            <a:gdLst/>
            <a:ahLst/>
            <a:cxnLst/>
            <a:rect l="l" t="t" r="r" b="b"/>
            <a:pathLst>
              <a:path w="112715" h="150287">
                <a:moveTo>
                  <a:pt x="0" y="18786"/>
                </a:moveTo>
                <a:cubicBezTo>
                  <a:pt x="0" y="8424"/>
                  <a:pt x="8424" y="0"/>
                  <a:pt x="18786" y="0"/>
                </a:cubicBezTo>
                <a:lnTo>
                  <a:pt x="62668" y="0"/>
                </a:lnTo>
                <a:cubicBezTo>
                  <a:pt x="67658" y="0"/>
                  <a:pt x="72443" y="1967"/>
                  <a:pt x="75965" y="5489"/>
                </a:cubicBezTo>
                <a:lnTo>
                  <a:pt x="107226" y="36779"/>
                </a:lnTo>
                <a:cubicBezTo>
                  <a:pt x="110748" y="40301"/>
                  <a:pt x="112715" y="45086"/>
                  <a:pt x="112715" y="50076"/>
                </a:cubicBezTo>
                <a:lnTo>
                  <a:pt x="112715" y="131501"/>
                </a:lnTo>
                <a:cubicBezTo>
                  <a:pt x="112715" y="141862"/>
                  <a:pt x="104291" y="150287"/>
                  <a:pt x="93929" y="150287"/>
                </a:cubicBezTo>
                <a:lnTo>
                  <a:pt x="18786" y="150287"/>
                </a:lnTo>
                <a:cubicBezTo>
                  <a:pt x="8424" y="150287"/>
                  <a:pt x="0" y="141862"/>
                  <a:pt x="0" y="131501"/>
                </a:cubicBezTo>
                <a:lnTo>
                  <a:pt x="0" y="18786"/>
                </a:lnTo>
                <a:close/>
                <a:moveTo>
                  <a:pt x="61054" y="17171"/>
                </a:moveTo>
                <a:lnTo>
                  <a:pt x="61054" y="44616"/>
                </a:lnTo>
                <a:cubicBezTo>
                  <a:pt x="61054" y="48520"/>
                  <a:pt x="64195" y="51661"/>
                  <a:pt x="68099" y="51661"/>
                </a:cubicBezTo>
                <a:lnTo>
                  <a:pt x="95544" y="51661"/>
                </a:lnTo>
                <a:lnTo>
                  <a:pt x="61054" y="17171"/>
                </a:lnTo>
                <a:close/>
                <a:moveTo>
                  <a:pt x="35223" y="75143"/>
                </a:moveTo>
                <a:cubicBezTo>
                  <a:pt x="31319" y="75143"/>
                  <a:pt x="28179" y="78284"/>
                  <a:pt x="28179" y="82188"/>
                </a:cubicBezTo>
                <a:cubicBezTo>
                  <a:pt x="28179" y="86092"/>
                  <a:pt x="31319" y="89233"/>
                  <a:pt x="35223" y="89233"/>
                </a:cubicBezTo>
                <a:lnTo>
                  <a:pt x="77492" y="89233"/>
                </a:lnTo>
                <a:cubicBezTo>
                  <a:pt x="81395" y="89233"/>
                  <a:pt x="84536" y="86092"/>
                  <a:pt x="84536" y="82188"/>
                </a:cubicBezTo>
                <a:cubicBezTo>
                  <a:pt x="84536" y="78284"/>
                  <a:pt x="81395" y="75143"/>
                  <a:pt x="77492" y="75143"/>
                </a:cubicBezTo>
                <a:lnTo>
                  <a:pt x="35223" y="75143"/>
                </a:lnTo>
                <a:close/>
                <a:moveTo>
                  <a:pt x="35223" y="103322"/>
                </a:moveTo>
                <a:cubicBezTo>
                  <a:pt x="31319" y="103322"/>
                  <a:pt x="28179" y="106463"/>
                  <a:pt x="28179" y="110367"/>
                </a:cubicBezTo>
                <a:cubicBezTo>
                  <a:pt x="28179" y="114271"/>
                  <a:pt x="31319" y="117411"/>
                  <a:pt x="35223" y="117411"/>
                </a:cubicBezTo>
                <a:lnTo>
                  <a:pt x="77492" y="117411"/>
                </a:lnTo>
                <a:cubicBezTo>
                  <a:pt x="81395" y="117411"/>
                  <a:pt x="84536" y="114271"/>
                  <a:pt x="84536" y="110367"/>
                </a:cubicBezTo>
                <a:cubicBezTo>
                  <a:pt x="84536" y="106463"/>
                  <a:pt x="81395" y="103322"/>
                  <a:pt x="77492" y="103322"/>
                </a:cubicBezTo>
                <a:lnTo>
                  <a:pt x="35223" y="103322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11118" y="2720188"/>
            <a:ext cx="1906761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CSR Narrative Generator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8117" y="3058333"/>
            <a:ext cx="5166102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Auto-writes regulatory explanations</a:t>
            </a: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ML findings. From data to compliant narrative in seconds.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5402" y="3772194"/>
            <a:ext cx="5316388" cy="1052006"/>
          </a:xfrm>
          <a:custGeom>
            <a:avLst/>
            <a:gdLst/>
            <a:ahLst/>
            <a:cxnLst/>
            <a:rect l="l" t="t" r="r" b="b"/>
            <a:pathLst>
              <a:path w="5316388" h="1052006">
                <a:moveTo>
                  <a:pt x="75145" y="0"/>
                </a:moveTo>
                <a:lnTo>
                  <a:pt x="5241243" y="0"/>
                </a:lnTo>
                <a:cubicBezTo>
                  <a:pt x="5282745" y="0"/>
                  <a:pt x="5316388" y="33643"/>
                  <a:pt x="5316388" y="75145"/>
                </a:cubicBezTo>
                <a:lnTo>
                  <a:pt x="5316388" y="976861"/>
                </a:lnTo>
                <a:cubicBezTo>
                  <a:pt x="5316388" y="1018363"/>
                  <a:pt x="5282745" y="1052006"/>
                  <a:pt x="5241243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76295" y="3941267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65750" y="0"/>
                </a:moveTo>
                <a:cubicBezTo>
                  <a:pt x="60555" y="0"/>
                  <a:pt x="56357" y="4197"/>
                  <a:pt x="56357" y="9393"/>
                </a:cubicBezTo>
                <a:lnTo>
                  <a:pt x="56357" y="10332"/>
                </a:lnTo>
                <a:cubicBezTo>
                  <a:pt x="34930" y="14676"/>
                  <a:pt x="18786" y="33638"/>
                  <a:pt x="18786" y="56357"/>
                </a:cubicBezTo>
                <a:lnTo>
                  <a:pt x="18786" y="62727"/>
                </a:lnTo>
                <a:cubicBezTo>
                  <a:pt x="18786" y="76846"/>
                  <a:pt x="13972" y="90554"/>
                  <a:pt x="5166" y="101590"/>
                </a:cubicBezTo>
                <a:lnTo>
                  <a:pt x="2290" y="105171"/>
                </a:lnTo>
                <a:cubicBezTo>
                  <a:pt x="793" y="107020"/>
                  <a:pt x="0" y="109310"/>
                  <a:pt x="0" y="111688"/>
                </a:cubicBezTo>
                <a:cubicBezTo>
                  <a:pt x="0" y="117441"/>
                  <a:pt x="4667" y="122108"/>
                  <a:pt x="10420" y="122108"/>
                </a:cubicBezTo>
                <a:lnTo>
                  <a:pt x="121051" y="122108"/>
                </a:lnTo>
                <a:cubicBezTo>
                  <a:pt x="126804" y="122108"/>
                  <a:pt x="131471" y="117441"/>
                  <a:pt x="131471" y="111688"/>
                </a:cubicBezTo>
                <a:cubicBezTo>
                  <a:pt x="131471" y="109310"/>
                  <a:pt x="130679" y="107020"/>
                  <a:pt x="129182" y="105171"/>
                </a:cubicBezTo>
                <a:lnTo>
                  <a:pt x="126305" y="101590"/>
                </a:lnTo>
                <a:cubicBezTo>
                  <a:pt x="117529" y="90554"/>
                  <a:pt x="112715" y="76846"/>
                  <a:pt x="112715" y="62727"/>
                </a:cubicBezTo>
                <a:lnTo>
                  <a:pt x="112715" y="56357"/>
                </a:lnTo>
                <a:cubicBezTo>
                  <a:pt x="112715" y="33638"/>
                  <a:pt x="96571" y="14676"/>
                  <a:pt x="75143" y="10332"/>
                </a:cubicBezTo>
                <a:lnTo>
                  <a:pt x="75143" y="9393"/>
                </a:lnTo>
                <a:cubicBezTo>
                  <a:pt x="75143" y="4197"/>
                  <a:pt x="70946" y="0"/>
                  <a:pt x="65750" y="0"/>
                </a:cubicBezTo>
                <a:close/>
                <a:moveTo>
                  <a:pt x="47552" y="136197"/>
                </a:moveTo>
                <a:cubicBezTo>
                  <a:pt x="49636" y="144299"/>
                  <a:pt x="57003" y="150287"/>
                  <a:pt x="65750" y="150287"/>
                </a:cubicBezTo>
                <a:cubicBezTo>
                  <a:pt x="74498" y="150287"/>
                  <a:pt x="81865" y="144299"/>
                  <a:pt x="83949" y="136197"/>
                </a:cubicBezTo>
                <a:lnTo>
                  <a:pt x="47552" y="136197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11118" y="3884909"/>
            <a:ext cx="1202293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Push Simulator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8117" y="4223054"/>
            <a:ext cx="5166102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One-click notifications</a:t>
            </a: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investigators at high-risk sites. Proactive communication before issues escalate.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79474" y="5105989"/>
            <a:ext cx="11429296" cy="1378880"/>
          </a:xfrm>
          <a:custGeom>
            <a:avLst/>
            <a:gdLst/>
            <a:ahLst/>
            <a:cxnLst/>
            <a:rect l="l" t="t" r="r" b="b"/>
            <a:pathLst>
              <a:path w="11429296" h="1378880">
                <a:moveTo>
                  <a:pt x="75149" y="0"/>
                </a:moveTo>
                <a:lnTo>
                  <a:pt x="11354147" y="0"/>
                </a:lnTo>
                <a:cubicBezTo>
                  <a:pt x="11395650" y="0"/>
                  <a:pt x="11429296" y="33645"/>
                  <a:pt x="11429296" y="75149"/>
                </a:cubicBezTo>
                <a:lnTo>
                  <a:pt x="11429296" y="1303731"/>
                </a:lnTo>
                <a:cubicBezTo>
                  <a:pt x="11429296" y="1345234"/>
                  <a:pt x="11395650" y="1378880"/>
                  <a:pt x="11354147" y="1378880"/>
                </a:cubicBezTo>
                <a:lnTo>
                  <a:pt x="75149" y="1378880"/>
                </a:lnTo>
                <a:cubicBezTo>
                  <a:pt x="33673" y="1378880"/>
                  <a:pt x="0" y="1345206"/>
                  <a:pt x="0" y="1303731"/>
                </a:cubicBezTo>
                <a:lnTo>
                  <a:pt x="0" y="75149"/>
                </a:lnTo>
                <a:cubicBezTo>
                  <a:pt x="0" y="33673"/>
                  <a:pt x="33673" y="0"/>
                  <a:pt x="75149" y="0"/>
                </a:cubicBezTo>
                <a:close/>
              </a:path>
            </a:pathLst>
          </a:custGeom>
          <a:solidFill>
            <a:srgbClr val="1A2129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5946" y="5222459"/>
            <a:ext cx="1127149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kern="0" spc="5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 Action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9703" y="5526790"/>
            <a:ext cx="2703280" cy="834091"/>
          </a:xfrm>
          <a:custGeom>
            <a:avLst/>
            <a:gdLst/>
            <a:ahLst/>
            <a:cxnLst/>
            <a:rect l="l" t="t" r="r" b="b"/>
            <a:pathLst>
              <a:path w="2703280" h="834091">
                <a:moveTo>
                  <a:pt x="75143" y="0"/>
                </a:moveTo>
                <a:lnTo>
                  <a:pt x="2628137" y="0"/>
                </a:lnTo>
                <a:cubicBezTo>
                  <a:pt x="2669637" y="0"/>
                  <a:pt x="2703280" y="33643"/>
                  <a:pt x="2703280" y="75143"/>
                </a:cubicBezTo>
                <a:lnTo>
                  <a:pt x="2703280" y="758947"/>
                </a:lnTo>
                <a:cubicBezTo>
                  <a:pt x="2703280" y="800448"/>
                  <a:pt x="2669637" y="834091"/>
                  <a:pt x="2628137" y="834091"/>
                </a:cubicBezTo>
                <a:lnTo>
                  <a:pt x="75143" y="834091"/>
                </a:lnTo>
                <a:cubicBezTo>
                  <a:pt x="33671" y="834091"/>
                  <a:pt x="0" y="800420"/>
                  <a:pt x="0" y="758947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5728" y="5643264"/>
            <a:ext cx="2611230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9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8603" y="6018981"/>
            <a:ext cx="254547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 Monitored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27322" y="5526790"/>
            <a:ext cx="2703280" cy="834091"/>
          </a:xfrm>
          <a:custGeom>
            <a:avLst/>
            <a:gdLst/>
            <a:ahLst/>
            <a:cxnLst/>
            <a:rect l="l" t="t" r="r" b="b"/>
            <a:pathLst>
              <a:path w="2703280" h="834091">
                <a:moveTo>
                  <a:pt x="75143" y="0"/>
                </a:moveTo>
                <a:lnTo>
                  <a:pt x="2628137" y="0"/>
                </a:lnTo>
                <a:cubicBezTo>
                  <a:pt x="2669637" y="0"/>
                  <a:pt x="2703280" y="33643"/>
                  <a:pt x="2703280" y="75143"/>
                </a:cubicBezTo>
                <a:lnTo>
                  <a:pt x="2703280" y="758947"/>
                </a:lnTo>
                <a:cubicBezTo>
                  <a:pt x="2703280" y="800448"/>
                  <a:pt x="2669637" y="834091"/>
                  <a:pt x="2628137" y="834091"/>
                </a:cubicBezTo>
                <a:lnTo>
                  <a:pt x="75143" y="834091"/>
                </a:lnTo>
                <a:cubicBezTo>
                  <a:pt x="33671" y="834091"/>
                  <a:pt x="0" y="800420"/>
                  <a:pt x="0" y="758947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10160">
            <a:solidFill>
              <a:srgbClr val="B88A5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73347" y="5643264"/>
            <a:ext cx="2611230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9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06222" y="6018981"/>
            <a:ext cx="254547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High-Risk Sites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55058" y="5526790"/>
            <a:ext cx="2703280" cy="834091"/>
          </a:xfrm>
          <a:custGeom>
            <a:avLst/>
            <a:gdLst/>
            <a:ahLst/>
            <a:cxnLst/>
            <a:rect l="l" t="t" r="r" b="b"/>
            <a:pathLst>
              <a:path w="2703280" h="834091">
                <a:moveTo>
                  <a:pt x="75143" y="0"/>
                </a:moveTo>
                <a:lnTo>
                  <a:pt x="2628137" y="0"/>
                </a:lnTo>
                <a:cubicBezTo>
                  <a:pt x="2669637" y="0"/>
                  <a:pt x="2703280" y="33643"/>
                  <a:pt x="2703280" y="75143"/>
                </a:cubicBezTo>
                <a:lnTo>
                  <a:pt x="2703280" y="758947"/>
                </a:lnTo>
                <a:cubicBezTo>
                  <a:pt x="2703280" y="800448"/>
                  <a:pt x="2669637" y="834091"/>
                  <a:pt x="2628137" y="834091"/>
                </a:cubicBezTo>
                <a:lnTo>
                  <a:pt x="75143" y="834091"/>
                </a:lnTo>
                <a:cubicBezTo>
                  <a:pt x="33671" y="834091"/>
                  <a:pt x="0" y="800420"/>
                  <a:pt x="0" y="758947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 w="10160">
            <a:solidFill>
              <a:srgbClr val="7D8A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01083" y="5643264"/>
            <a:ext cx="2611230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9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 hrs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33958" y="6018981"/>
            <a:ext cx="254547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Saved/Day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982677" y="5526790"/>
            <a:ext cx="2703280" cy="834091"/>
          </a:xfrm>
          <a:custGeom>
            <a:avLst/>
            <a:gdLst/>
            <a:ahLst/>
            <a:cxnLst/>
            <a:rect l="l" t="t" r="r" b="b"/>
            <a:pathLst>
              <a:path w="2703280" h="834091">
                <a:moveTo>
                  <a:pt x="75143" y="0"/>
                </a:moveTo>
                <a:lnTo>
                  <a:pt x="2628137" y="0"/>
                </a:lnTo>
                <a:cubicBezTo>
                  <a:pt x="2669637" y="0"/>
                  <a:pt x="2703280" y="33643"/>
                  <a:pt x="2703280" y="75143"/>
                </a:cubicBezTo>
                <a:lnTo>
                  <a:pt x="2703280" y="758947"/>
                </a:lnTo>
                <a:cubicBezTo>
                  <a:pt x="2703280" y="800448"/>
                  <a:pt x="2669637" y="834091"/>
                  <a:pt x="2628137" y="834091"/>
                </a:cubicBezTo>
                <a:lnTo>
                  <a:pt x="75143" y="834091"/>
                </a:lnTo>
                <a:cubicBezTo>
                  <a:pt x="33671" y="834091"/>
                  <a:pt x="0" y="800420"/>
                  <a:pt x="0" y="758947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028702" y="5643264"/>
            <a:ext cx="2611230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9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61578" y="6018981"/>
            <a:ext cx="254547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Issues Found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255" y="324255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87777" y="324255"/>
            <a:ext cx="3323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0936" y="437745"/>
            <a:ext cx="9087255" cy="32426"/>
          </a:xfrm>
          <a:custGeom>
            <a:avLst/>
            <a:gdLst/>
            <a:ahLst/>
            <a:cxnLst/>
            <a:rect l="l" t="t" r="r" b="b"/>
            <a:pathLst>
              <a:path w="9087255" h="32426">
                <a:moveTo>
                  <a:pt x="0" y="0"/>
                </a:moveTo>
                <a:lnTo>
                  <a:pt x="9087255" y="0"/>
                </a:lnTo>
                <a:lnTo>
                  <a:pt x="9087255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869015" y="372894"/>
            <a:ext cx="205902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kern="0" spc="8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Feasibility &amp; Future Roadmap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4255" y="713362"/>
            <a:ext cx="11738043" cy="4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6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Ready &amp; Scalable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4255" y="1264596"/>
            <a:ext cx="1162455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Hackathon Prototype to Enterprise Reality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0740" y="1627762"/>
            <a:ext cx="5679332" cy="3985098"/>
          </a:xfrm>
          <a:custGeom>
            <a:avLst/>
            <a:gdLst/>
            <a:ahLst/>
            <a:cxnLst/>
            <a:rect l="l" t="t" r="r" b="b"/>
            <a:pathLst>
              <a:path w="5679332" h="3985098">
                <a:moveTo>
                  <a:pt x="64838" y="0"/>
                </a:moveTo>
                <a:lnTo>
                  <a:pt x="5614494" y="0"/>
                </a:lnTo>
                <a:cubicBezTo>
                  <a:pt x="5650303" y="0"/>
                  <a:pt x="5679332" y="29029"/>
                  <a:pt x="5679332" y="64838"/>
                </a:cubicBezTo>
                <a:lnTo>
                  <a:pt x="5679332" y="3920260"/>
                </a:lnTo>
                <a:cubicBezTo>
                  <a:pt x="5679332" y="3956069"/>
                  <a:pt x="5650303" y="3985098"/>
                  <a:pt x="5614494" y="3985098"/>
                </a:cubicBezTo>
                <a:lnTo>
                  <a:pt x="64838" y="3985098"/>
                </a:lnTo>
                <a:cubicBezTo>
                  <a:pt x="29029" y="3985098"/>
                  <a:pt x="0" y="3956069"/>
                  <a:pt x="0" y="3920260"/>
                </a:cubicBezTo>
                <a:lnTo>
                  <a:pt x="0" y="64838"/>
                </a:lnTo>
                <a:cubicBezTo>
                  <a:pt x="0" y="29053"/>
                  <a:pt x="29053" y="0"/>
                  <a:pt x="6483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9353" y="1796375"/>
            <a:ext cx="453957" cy="453957"/>
          </a:xfrm>
          <a:custGeom>
            <a:avLst/>
            <a:gdLst/>
            <a:ahLst/>
            <a:cxnLst/>
            <a:rect l="l" t="t" r="r" b="b"/>
            <a:pathLst>
              <a:path w="453957" h="453957">
                <a:moveTo>
                  <a:pt x="64852" y="0"/>
                </a:moveTo>
                <a:lnTo>
                  <a:pt x="389105" y="0"/>
                </a:lnTo>
                <a:cubicBezTo>
                  <a:pt x="424922" y="0"/>
                  <a:pt x="453957" y="29035"/>
                  <a:pt x="453957" y="64852"/>
                </a:cubicBezTo>
                <a:lnTo>
                  <a:pt x="453957" y="389105"/>
                </a:lnTo>
                <a:cubicBezTo>
                  <a:pt x="453957" y="424922"/>
                  <a:pt x="424922" y="453957"/>
                  <a:pt x="389105" y="453957"/>
                </a:cubicBezTo>
                <a:lnTo>
                  <a:pt x="64852" y="453957"/>
                </a:lnTo>
                <a:cubicBezTo>
                  <a:pt x="29035" y="453957"/>
                  <a:pt x="0" y="424922"/>
                  <a:pt x="0" y="389105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3374" y="1926077"/>
            <a:ext cx="145915" cy="194553"/>
          </a:xfrm>
          <a:custGeom>
            <a:avLst/>
            <a:gdLst/>
            <a:ahLst/>
            <a:cxnLst/>
            <a:rect l="l" t="t" r="r" b="b"/>
            <a:pathLst>
              <a:path w="145915" h="194553">
                <a:moveTo>
                  <a:pt x="94959" y="25383"/>
                </a:moveTo>
                <a:cubicBezTo>
                  <a:pt x="98911" y="19949"/>
                  <a:pt x="97695" y="12350"/>
                  <a:pt x="92261" y="8398"/>
                </a:cubicBezTo>
                <a:cubicBezTo>
                  <a:pt x="86827" y="4446"/>
                  <a:pt x="79227" y="5662"/>
                  <a:pt x="75275" y="11096"/>
                </a:cubicBezTo>
                <a:lnTo>
                  <a:pt x="34997" y="66460"/>
                </a:lnTo>
                <a:lnTo>
                  <a:pt x="20747" y="52210"/>
                </a:lnTo>
                <a:cubicBezTo>
                  <a:pt x="15997" y="47460"/>
                  <a:pt x="8284" y="47460"/>
                  <a:pt x="3534" y="52210"/>
                </a:cubicBezTo>
                <a:cubicBezTo>
                  <a:pt x="-1216" y="56960"/>
                  <a:pt x="-1216" y="64674"/>
                  <a:pt x="3534" y="69424"/>
                </a:cubicBezTo>
                <a:lnTo>
                  <a:pt x="27853" y="93743"/>
                </a:lnTo>
                <a:cubicBezTo>
                  <a:pt x="30361" y="96251"/>
                  <a:pt x="33857" y="97543"/>
                  <a:pt x="37391" y="97277"/>
                </a:cubicBezTo>
                <a:cubicBezTo>
                  <a:pt x="40925" y="97011"/>
                  <a:pt x="44192" y="95187"/>
                  <a:pt x="46282" y="92299"/>
                </a:cubicBezTo>
                <a:lnTo>
                  <a:pt x="94921" y="25421"/>
                </a:lnTo>
                <a:close/>
                <a:moveTo>
                  <a:pt x="143597" y="77061"/>
                </a:moveTo>
                <a:cubicBezTo>
                  <a:pt x="147549" y="71627"/>
                  <a:pt x="146333" y="64028"/>
                  <a:pt x="140899" y="60076"/>
                </a:cubicBezTo>
                <a:cubicBezTo>
                  <a:pt x="135465" y="56124"/>
                  <a:pt x="127866" y="57340"/>
                  <a:pt x="123914" y="62774"/>
                </a:cubicBezTo>
                <a:lnTo>
                  <a:pt x="59316" y="151577"/>
                </a:lnTo>
                <a:lnTo>
                  <a:pt x="32907" y="125168"/>
                </a:lnTo>
                <a:cubicBezTo>
                  <a:pt x="28157" y="120418"/>
                  <a:pt x="20443" y="120418"/>
                  <a:pt x="15693" y="125168"/>
                </a:cubicBezTo>
                <a:cubicBezTo>
                  <a:pt x="10944" y="129917"/>
                  <a:pt x="10944" y="137631"/>
                  <a:pt x="15693" y="142381"/>
                </a:cubicBezTo>
                <a:lnTo>
                  <a:pt x="52172" y="178860"/>
                </a:lnTo>
                <a:cubicBezTo>
                  <a:pt x="54680" y="181368"/>
                  <a:pt x="58176" y="182660"/>
                  <a:pt x="61710" y="182394"/>
                </a:cubicBezTo>
                <a:cubicBezTo>
                  <a:pt x="65244" y="182128"/>
                  <a:pt x="68512" y="180304"/>
                  <a:pt x="70602" y="177416"/>
                </a:cubicBezTo>
                <a:lnTo>
                  <a:pt x="143559" y="77099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0587" y="1877439"/>
            <a:ext cx="1215957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9353" y="2380035"/>
            <a:ext cx="5406957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 is not just a concept — </a:t>
            </a: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it's a working prototype tested and validated on real-world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9353" y="3547354"/>
            <a:ext cx="5342106" cy="794426"/>
          </a:xfrm>
          <a:custGeom>
            <a:avLst/>
            <a:gdLst/>
            <a:ahLst/>
            <a:cxnLst/>
            <a:rect l="l" t="t" r="r" b="b"/>
            <a:pathLst>
              <a:path w="5342106" h="794426">
                <a:moveTo>
                  <a:pt x="64849" y="0"/>
                </a:moveTo>
                <a:lnTo>
                  <a:pt x="5277257" y="0"/>
                </a:lnTo>
                <a:cubicBezTo>
                  <a:pt x="5313073" y="0"/>
                  <a:pt x="5342106" y="29034"/>
                  <a:pt x="5342106" y="64849"/>
                </a:cubicBezTo>
                <a:lnTo>
                  <a:pt x="5342106" y="729577"/>
                </a:lnTo>
                <a:cubicBezTo>
                  <a:pt x="5342106" y="765392"/>
                  <a:pt x="5313073" y="794426"/>
                  <a:pt x="5277257" y="794426"/>
                </a:cubicBezTo>
                <a:lnTo>
                  <a:pt x="64849" y="794426"/>
                </a:lnTo>
                <a:cubicBezTo>
                  <a:pt x="29034" y="794426"/>
                  <a:pt x="0" y="765392"/>
                  <a:pt x="0" y="729577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6630" y="3644631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7827" y="3733801"/>
            <a:ext cx="145915" cy="145915"/>
          </a:xfrm>
          <a:custGeom>
            <a:avLst/>
            <a:gdLst/>
            <a:ahLst/>
            <a:cxnLst/>
            <a:rect l="l" t="t" r="r" b="b"/>
            <a:pathLst>
              <a:path w="145915" h="145915">
                <a:moveTo>
                  <a:pt x="72957" y="0"/>
                </a:moveTo>
                <a:cubicBezTo>
                  <a:pt x="74268" y="0"/>
                  <a:pt x="75579" y="285"/>
                  <a:pt x="76776" y="826"/>
                </a:cubicBezTo>
                <a:lnTo>
                  <a:pt x="130468" y="23597"/>
                </a:lnTo>
                <a:cubicBezTo>
                  <a:pt x="136738" y="26248"/>
                  <a:pt x="141412" y="32432"/>
                  <a:pt x="141384" y="39899"/>
                </a:cubicBezTo>
                <a:cubicBezTo>
                  <a:pt x="141241" y="68170"/>
                  <a:pt x="129613" y="119895"/>
                  <a:pt x="80510" y="143407"/>
                </a:cubicBezTo>
                <a:cubicBezTo>
                  <a:pt x="75750" y="145687"/>
                  <a:pt x="70222" y="145687"/>
                  <a:pt x="65462" y="143407"/>
                </a:cubicBezTo>
                <a:cubicBezTo>
                  <a:pt x="16330" y="119895"/>
                  <a:pt x="4731" y="68170"/>
                  <a:pt x="4588" y="39899"/>
                </a:cubicBezTo>
                <a:cubicBezTo>
                  <a:pt x="4560" y="32432"/>
                  <a:pt x="9234" y="26248"/>
                  <a:pt x="15503" y="23597"/>
                </a:cubicBezTo>
                <a:lnTo>
                  <a:pt x="69167" y="826"/>
                </a:lnTo>
                <a:cubicBezTo>
                  <a:pt x="70364" y="285"/>
                  <a:pt x="71646" y="0"/>
                  <a:pt x="72957" y="0"/>
                </a:cubicBezTo>
                <a:close/>
                <a:moveTo>
                  <a:pt x="72957" y="19037"/>
                </a:moveTo>
                <a:lnTo>
                  <a:pt x="72957" y="126792"/>
                </a:lnTo>
                <a:cubicBezTo>
                  <a:pt x="112286" y="107755"/>
                  <a:pt x="122859" y="65576"/>
                  <a:pt x="123116" y="40326"/>
                </a:cubicBezTo>
                <a:lnTo>
                  <a:pt x="72957" y="19066"/>
                </a:lnTo>
                <a:lnTo>
                  <a:pt x="72957" y="19066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18162" y="3693269"/>
            <a:ext cx="154021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Local-First &amp; Private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630" y="4033737"/>
            <a:ext cx="5212404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100% offline.</a:t>
            </a: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 PII leaves the laptop. </a:t>
            </a:r>
            <a:r>
              <a:rPr lang="en-US" sz="102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compliance with data privacy regulations.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9353" y="4439056"/>
            <a:ext cx="5342106" cy="1005191"/>
          </a:xfrm>
          <a:custGeom>
            <a:avLst/>
            <a:gdLst/>
            <a:ahLst/>
            <a:cxnLst/>
            <a:rect l="l" t="t" r="r" b="b"/>
            <a:pathLst>
              <a:path w="5342106" h="1005191">
                <a:moveTo>
                  <a:pt x="64855" y="0"/>
                </a:moveTo>
                <a:lnTo>
                  <a:pt x="5277251" y="0"/>
                </a:lnTo>
                <a:cubicBezTo>
                  <a:pt x="5313070" y="0"/>
                  <a:pt x="5342106" y="29037"/>
                  <a:pt x="5342106" y="64855"/>
                </a:cubicBezTo>
                <a:lnTo>
                  <a:pt x="5342106" y="940337"/>
                </a:lnTo>
                <a:cubicBezTo>
                  <a:pt x="5342106" y="976155"/>
                  <a:pt x="5313070" y="1005191"/>
                  <a:pt x="5277251" y="1005191"/>
                </a:cubicBezTo>
                <a:lnTo>
                  <a:pt x="64855" y="1005191"/>
                </a:lnTo>
                <a:cubicBezTo>
                  <a:pt x="29037" y="1005191"/>
                  <a:pt x="0" y="976155"/>
                  <a:pt x="0" y="940337"/>
                </a:cubicBezTo>
                <a:lnTo>
                  <a:pt x="0" y="64855"/>
                </a:lnTo>
                <a:cubicBezTo>
                  <a:pt x="0" y="29061"/>
                  <a:pt x="29061" y="0"/>
                  <a:pt x="6485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6630" y="4536333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7827" y="4625503"/>
            <a:ext cx="145915" cy="145915"/>
          </a:xfrm>
          <a:custGeom>
            <a:avLst/>
            <a:gdLst/>
            <a:ahLst/>
            <a:cxnLst/>
            <a:rect l="l" t="t" r="r" b="b"/>
            <a:pathLst>
              <a:path w="145915" h="145915">
                <a:moveTo>
                  <a:pt x="100288" y="79797"/>
                </a:moveTo>
                <a:lnTo>
                  <a:pt x="45883" y="79797"/>
                </a:lnTo>
                <a:cubicBezTo>
                  <a:pt x="46710" y="98179"/>
                  <a:pt x="50785" y="115107"/>
                  <a:pt x="56571" y="127505"/>
                </a:cubicBezTo>
                <a:cubicBezTo>
                  <a:pt x="59819" y="134487"/>
                  <a:pt x="63325" y="139417"/>
                  <a:pt x="66574" y="142438"/>
                </a:cubicBezTo>
                <a:cubicBezTo>
                  <a:pt x="69766" y="145430"/>
                  <a:pt x="71960" y="145915"/>
                  <a:pt x="73100" y="145915"/>
                </a:cubicBezTo>
                <a:cubicBezTo>
                  <a:pt x="74240" y="145915"/>
                  <a:pt x="76434" y="145430"/>
                  <a:pt x="79626" y="142438"/>
                </a:cubicBezTo>
                <a:cubicBezTo>
                  <a:pt x="82875" y="139417"/>
                  <a:pt x="86380" y="134458"/>
                  <a:pt x="89629" y="127505"/>
                </a:cubicBezTo>
                <a:cubicBezTo>
                  <a:pt x="95415" y="115107"/>
                  <a:pt x="99490" y="98179"/>
                  <a:pt x="100316" y="79797"/>
                </a:cubicBezTo>
                <a:close/>
                <a:moveTo>
                  <a:pt x="45855" y="66118"/>
                </a:moveTo>
                <a:lnTo>
                  <a:pt x="100259" y="66118"/>
                </a:lnTo>
                <a:cubicBezTo>
                  <a:pt x="99462" y="47736"/>
                  <a:pt x="95386" y="30807"/>
                  <a:pt x="89601" y="18410"/>
                </a:cubicBezTo>
                <a:cubicBezTo>
                  <a:pt x="86352" y="11457"/>
                  <a:pt x="82847" y="6498"/>
                  <a:pt x="79598" y="3477"/>
                </a:cubicBezTo>
                <a:cubicBezTo>
                  <a:pt x="76406" y="484"/>
                  <a:pt x="74211" y="0"/>
                  <a:pt x="73071" y="0"/>
                </a:cubicBezTo>
                <a:cubicBezTo>
                  <a:pt x="71931" y="0"/>
                  <a:pt x="69737" y="484"/>
                  <a:pt x="66545" y="3477"/>
                </a:cubicBezTo>
                <a:cubicBezTo>
                  <a:pt x="63296" y="6498"/>
                  <a:pt x="59791" y="11457"/>
                  <a:pt x="56542" y="18410"/>
                </a:cubicBezTo>
                <a:cubicBezTo>
                  <a:pt x="50757" y="30807"/>
                  <a:pt x="46681" y="47736"/>
                  <a:pt x="45855" y="66118"/>
                </a:cubicBezTo>
                <a:close/>
                <a:moveTo>
                  <a:pt x="32175" y="66118"/>
                </a:moveTo>
                <a:cubicBezTo>
                  <a:pt x="33173" y="41723"/>
                  <a:pt x="39471" y="19066"/>
                  <a:pt x="48676" y="4189"/>
                </a:cubicBezTo>
                <a:cubicBezTo>
                  <a:pt x="22429" y="13480"/>
                  <a:pt x="3106" y="37391"/>
                  <a:pt x="427" y="66118"/>
                </a:cubicBezTo>
                <a:lnTo>
                  <a:pt x="32175" y="66118"/>
                </a:lnTo>
                <a:close/>
                <a:moveTo>
                  <a:pt x="427" y="79797"/>
                </a:moveTo>
                <a:cubicBezTo>
                  <a:pt x="3106" y="108524"/>
                  <a:pt x="22429" y="132435"/>
                  <a:pt x="48676" y="141726"/>
                </a:cubicBezTo>
                <a:cubicBezTo>
                  <a:pt x="39471" y="126849"/>
                  <a:pt x="33173" y="104192"/>
                  <a:pt x="32175" y="79797"/>
                </a:cubicBezTo>
                <a:lnTo>
                  <a:pt x="427" y="79797"/>
                </a:lnTo>
                <a:close/>
                <a:moveTo>
                  <a:pt x="113968" y="79797"/>
                </a:moveTo>
                <a:cubicBezTo>
                  <a:pt x="112970" y="104192"/>
                  <a:pt x="106672" y="126849"/>
                  <a:pt x="97467" y="141726"/>
                </a:cubicBezTo>
                <a:cubicBezTo>
                  <a:pt x="123714" y="132406"/>
                  <a:pt x="143036" y="108524"/>
                  <a:pt x="145715" y="79797"/>
                </a:cubicBezTo>
                <a:lnTo>
                  <a:pt x="113968" y="79797"/>
                </a:lnTo>
                <a:close/>
                <a:moveTo>
                  <a:pt x="145715" y="66118"/>
                </a:moveTo>
                <a:cubicBezTo>
                  <a:pt x="143036" y="37391"/>
                  <a:pt x="123714" y="13480"/>
                  <a:pt x="97467" y="4189"/>
                </a:cubicBezTo>
                <a:cubicBezTo>
                  <a:pt x="106672" y="19066"/>
                  <a:pt x="112970" y="41723"/>
                  <a:pt x="113968" y="66118"/>
                </a:cubicBezTo>
                <a:lnTo>
                  <a:pt x="145715" y="66118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18162" y="4584971"/>
            <a:ext cx="1742872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Compatibility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6630" y="4925439"/>
            <a:ext cx="5212404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Tested on 23 diverse datasets</a:t>
            </a: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100% success rate. Schema-agnostic design ensures broad compatibility.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3549" y="1627762"/>
            <a:ext cx="5679332" cy="3985098"/>
          </a:xfrm>
          <a:custGeom>
            <a:avLst/>
            <a:gdLst/>
            <a:ahLst/>
            <a:cxnLst/>
            <a:rect l="l" t="t" r="r" b="b"/>
            <a:pathLst>
              <a:path w="5679332" h="3985098">
                <a:moveTo>
                  <a:pt x="64838" y="0"/>
                </a:moveTo>
                <a:lnTo>
                  <a:pt x="5614494" y="0"/>
                </a:lnTo>
                <a:cubicBezTo>
                  <a:pt x="5650303" y="0"/>
                  <a:pt x="5679332" y="29029"/>
                  <a:pt x="5679332" y="64838"/>
                </a:cubicBezTo>
                <a:lnTo>
                  <a:pt x="5679332" y="3920260"/>
                </a:lnTo>
                <a:cubicBezTo>
                  <a:pt x="5679332" y="3956069"/>
                  <a:pt x="5650303" y="3985098"/>
                  <a:pt x="5614494" y="3985098"/>
                </a:cubicBezTo>
                <a:lnTo>
                  <a:pt x="64838" y="3985098"/>
                </a:lnTo>
                <a:cubicBezTo>
                  <a:pt x="29029" y="3985098"/>
                  <a:pt x="0" y="3956069"/>
                  <a:pt x="0" y="3920260"/>
                </a:cubicBezTo>
                <a:lnTo>
                  <a:pt x="0" y="64838"/>
                </a:lnTo>
                <a:cubicBezTo>
                  <a:pt x="0" y="29053"/>
                  <a:pt x="29053" y="0"/>
                  <a:pt x="64838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52162" y="1796375"/>
            <a:ext cx="453957" cy="453957"/>
          </a:xfrm>
          <a:custGeom>
            <a:avLst/>
            <a:gdLst/>
            <a:ahLst/>
            <a:cxnLst/>
            <a:rect l="l" t="t" r="r" b="b"/>
            <a:pathLst>
              <a:path w="453957" h="453957">
                <a:moveTo>
                  <a:pt x="64852" y="0"/>
                </a:moveTo>
                <a:lnTo>
                  <a:pt x="389105" y="0"/>
                </a:lnTo>
                <a:cubicBezTo>
                  <a:pt x="424922" y="0"/>
                  <a:pt x="453957" y="29035"/>
                  <a:pt x="453957" y="64852"/>
                </a:cubicBezTo>
                <a:lnTo>
                  <a:pt x="453957" y="389105"/>
                </a:lnTo>
                <a:cubicBezTo>
                  <a:pt x="453957" y="424922"/>
                  <a:pt x="424922" y="453957"/>
                  <a:pt x="389105" y="453957"/>
                </a:cubicBezTo>
                <a:lnTo>
                  <a:pt x="64852" y="453957"/>
                </a:lnTo>
                <a:cubicBezTo>
                  <a:pt x="29035" y="453957"/>
                  <a:pt x="0" y="424922"/>
                  <a:pt x="0" y="389105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81864" y="1926077"/>
            <a:ext cx="194553" cy="194553"/>
          </a:xfrm>
          <a:custGeom>
            <a:avLst/>
            <a:gdLst/>
            <a:ahLst/>
            <a:cxnLst/>
            <a:rect l="l" t="t" r="r" b="b"/>
            <a:pathLst>
              <a:path w="194553" h="194553">
                <a:moveTo>
                  <a:pt x="194553" y="36479"/>
                </a:moveTo>
                <a:cubicBezTo>
                  <a:pt x="194553" y="55554"/>
                  <a:pt x="172096" y="84015"/>
                  <a:pt x="162406" y="95377"/>
                </a:cubicBezTo>
                <a:cubicBezTo>
                  <a:pt x="160962" y="97049"/>
                  <a:pt x="158834" y="97695"/>
                  <a:pt x="156897" y="97277"/>
                </a:cubicBezTo>
                <a:lnTo>
                  <a:pt x="121596" y="97277"/>
                </a:lnTo>
                <a:cubicBezTo>
                  <a:pt x="114870" y="97277"/>
                  <a:pt x="109436" y="102710"/>
                  <a:pt x="109436" y="109436"/>
                </a:cubicBezTo>
                <a:cubicBezTo>
                  <a:pt x="109436" y="116162"/>
                  <a:pt x="114870" y="121596"/>
                  <a:pt x="121596" y="121596"/>
                </a:cubicBezTo>
                <a:lnTo>
                  <a:pt x="158074" y="121596"/>
                </a:lnTo>
                <a:cubicBezTo>
                  <a:pt x="178214" y="121596"/>
                  <a:pt x="194553" y="137935"/>
                  <a:pt x="194553" y="158074"/>
                </a:cubicBezTo>
                <a:cubicBezTo>
                  <a:pt x="194553" y="178214"/>
                  <a:pt x="178214" y="194553"/>
                  <a:pt x="158074" y="194553"/>
                </a:cubicBezTo>
                <a:lnTo>
                  <a:pt x="53046" y="194553"/>
                </a:lnTo>
                <a:cubicBezTo>
                  <a:pt x="56352" y="190791"/>
                  <a:pt x="60380" y="185965"/>
                  <a:pt x="64446" y="180570"/>
                </a:cubicBezTo>
                <a:cubicBezTo>
                  <a:pt x="66840" y="177378"/>
                  <a:pt x="69310" y="173882"/>
                  <a:pt x="71665" y="170234"/>
                </a:cubicBezTo>
                <a:lnTo>
                  <a:pt x="158074" y="170234"/>
                </a:lnTo>
                <a:cubicBezTo>
                  <a:pt x="164800" y="170234"/>
                  <a:pt x="170234" y="164800"/>
                  <a:pt x="170234" y="158074"/>
                </a:cubicBezTo>
                <a:cubicBezTo>
                  <a:pt x="170234" y="151349"/>
                  <a:pt x="164800" y="145915"/>
                  <a:pt x="158074" y="145915"/>
                </a:cubicBezTo>
                <a:lnTo>
                  <a:pt x="121596" y="145915"/>
                </a:lnTo>
                <a:cubicBezTo>
                  <a:pt x="101456" y="145915"/>
                  <a:pt x="85117" y="129575"/>
                  <a:pt x="85117" y="109436"/>
                </a:cubicBezTo>
                <a:cubicBezTo>
                  <a:pt x="85117" y="89297"/>
                  <a:pt x="101456" y="72957"/>
                  <a:pt x="121596" y="72957"/>
                </a:cubicBezTo>
                <a:lnTo>
                  <a:pt x="136719" y="72957"/>
                </a:lnTo>
                <a:cubicBezTo>
                  <a:pt x="128739" y="60988"/>
                  <a:pt x="121596" y="47232"/>
                  <a:pt x="121596" y="36479"/>
                </a:cubicBezTo>
                <a:cubicBezTo>
                  <a:pt x="121596" y="16339"/>
                  <a:pt x="137935" y="0"/>
                  <a:pt x="158074" y="0"/>
                </a:cubicBezTo>
                <a:cubicBezTo>
                  <a:pt x="178214" y="0"/>
                  <a:pt x="194553" y="16339"/>
                  <a:pt x="194553" y="36479"/>
                </a:cubicBezTo>
                <a:close/>
                <a:moveTo>
                  <a:pt x="44496" y="185851"/>
                </a:moveTo>
                <a:cubicBezTo>
                  <a:pt x="43052" y="187485"/>
                  <a:pt x="41761" y="188929"/>
                  <a:pt x="40659" y="190145"/>
                </a:cubicBezTo>
                <a:lnTo>
                  <a:pt x="39975" y="190905"/>
                </a:lnTo>
                <a:lnTo>
                  <a:pt x="39899" y="190829"/>
                </a:lnTo>
                <a:cubicBezTo>
                  <a:pt x="37619" y="192577"/>
                  <a:pt x="34351" y="192349"/>
                  <a:pt x="32299" y="190145"/>
                </a:cubicBezTo>
                <a:cubicBezTo>
                  <a:pt x="22723" y="179734"/>
                  <a:pt x="0" y="152945"/>
                  <a:pt x="0" y="133755"/>
                </a:cubicBezTo>
                <a:cubicBezTo>
                  <a:pt x="0" y="113616"/>
                  <a:pt x="16339" y="97277"/>
                  <a:pt x="36479" y="97277"/>
                </a:cubicBezTo>
                <a:cubicBezTo>
                  <a:pt x="56618" y="97277"/>
                  <a:pt x="72957" y="113616"/>
                  <a:pt x="72957" y="133755"/>
                </a:cubicBezTo>
                <a:cubicBezTo>
                  <a:pt x="72957" y="145155"/>
                  <a:pt x="64940" y="159214"/>
                  <a:pt x="56428" y="170956"/>
                </a:cubicBezTo>
                <a:cubicBezTo>
                  <a:pt x="52362" y="176542"/>
                  <a:pt x="48182" y="181596"/>
                  <a:pt x="44724" y="185586"/>
                </a:cubicBezTo>
                <a:lnTo>
                  <a:pt x="44496" y="185851"/>
                </a:lnTo>
                <a:close/>
                <a:moveTo>
                  <a:pt x="48638" y="133755"/>
                </a:moveTo>
                <a:cubicBezTo>
                  <a:pt x="48638" y="127044"/>
                  <a:pt x="43190" y="121596"/>
                  <a:pt x="36479" y="121596"/>
                </a:cubicBezTo>
                <a:cubicBezTo>
                  <a:pt x="29768" y="121596"/>
                  <a:pt x="24319" y="127044"/>
                  <a:pt x="24319" y="133755"/>
                </a:cubicBezTo>
                <a:cubicBezTo>
                  <a:pt x="24319" y="140466"/>
                  <a:pt x="29768" y="145915"/>
                  <a:pt x="36479" y="145915"/>
                </a:cubicBezTo>
                <a:cubicBezTo>
                  <a:pt x="43190" y="145915"/>
                  <a:pt x="48638" y="140466"/>
                  <a:pt x="48638" y="133755"/>
                </a:cubicBezTo>
                <a:close/>
                <a:moveTo>
                  <a:pt x="158074" y="48638"/>
                </a:moveTo>
                <a:cubicBezTo>
                  <a:pt x="164786" y="48638"/>
                  <a:pt x="170234" y="43190"/>
                  <a:pt x="170234" y="36479"/>
                </a:cubicBezTo>
                <a:cubicBezTo>
                  <a:pt x="170234" y="29768"/>
                  <a:pt x="164786" y="24319"/>
                  <a:pt x="158074" y="24319"/>
                </a:cubicBezTo>
                <a:cubicBezTo>
                  <a:pt x="151363" y="24319"/>
                  <a:pt x="145915" y="29768"/>
                  <a:pt x="145915" y="36479"/>
                </a:cubicBezTo>
                <a:cubicBezTo>
                  <a:pt x="145915" y="43190"/>
                  <a:pt x="151363" y="48638"/>
                  <a:pt x="158074" y="4863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903396" y="1877439"/>
            <a:ext cx="1143000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2162" y="2380035"/>
            <a:ext cx="5406957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Hackathon to Reality:</a:t>
            </a: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clear path to production deployment.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8375" y="2720503"/>
            <a:ext cx="5325894" cy="843064"/>
          </a:xfrm>
          <a:custGeom>
            <a:avLst/>
            <a:gdLst/>
            <a:ahLst/>
            <a:cxnLst/>
            <a:rect l="l" t="t" r="r" b="b"/>
            <a:pathLst>
              <a:path w="5325894" h="843064">
                <a:moveTo>
                  <a:pt x="32426" y="0"/>
                </a:moveTo>
                <a:lnTo>
                  <a:pt x="5261045" y="0"/>
                </a:lnTo>
                <a:cubicBezTo>
                  <a:pt x="5296860" y="0"/>
                  <a:pt x="5325894" y="29034"/>
                  <a:pt x="5325894" y="64848"/>
                </a:cubicBezTo>
                <a:lnTo>
                  <a:pt x="5325894" y="778215"/>
                </a:lnTo>
                <a:cubicBezTo>
                  <a:pt x="5325894" y="814030"/>
                  <a:pt x="5296860" y="843064"/>
                  <a:pt x="5261045" y="843064"/>
                </a:cubicBez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29"/>
                  <a:pt x="14529" y="0"/>
                  <a:pt x="324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68375" y="2720503"/>
            <a:ext cx="32426" cy="843064"/>
          </a:xfrm>
          <a:custGeom>
            <a:avLst/>
            <a:gdLst/>
            <a:ahLst/>
            <a:cxnLst/>
            <a:rect l="l" t="t" r="r" b="b"/>
            <a:pathLst>
              <a:path w="32426" h="843064">
                <a:moveTo>
                  <a:pt x="32426" y="0"/>
                </a:moveTo>
                <a:lnTo>
                  <a:pt x="32426" y="0"/>
                </a:lnTo>
                <a:lnTo>
                  <a:pt x="32426" y="843064"/>
                </a:ln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14290" y="2850205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77811" y="2850205"/>
            <a:ext cx="397213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5822" y="2898843"/>
            <a:ext cx="1678021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Core Platform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063490" y="2898843"/>
            <a:ext cx="502596" cy="226979"/>
          </a:xfrm>
          <a:custGeom>
            <a:avLst/>
            <a:gdLst/>
            <a:ahLst/>
            <a:cxnLst/>
            <a:rect l="l" t="t" r="r" b="b"/>
            <a:pathLst>
              <a:path w="502596" h="226979">
                <a:moveTo>
                  <a:pt x="113489" y="0"/>
                </a:moveTo>
                <a:lnTo>
                  <a:pt x="389106" y="0"/>
                </a:lnTo>
                <a:cubicBezTo>
                  <a:pt x="451785" y="0"/>
                  <a:pt x="502596" y="50811"/>
                  <a:pt x="502596" y="113489"/>
                </a:cubicBezTo>
                <a:lnTo>
                  <a:pt x="502596" y="113489"/>
                </a:lnTo>
                <a:cubicBezTo>
                  <a:pt x="502596" y="176168"/>
                  <a:pt x="451785" y="226979"/>
                  <a:pt x="389106" y="226979"/>
                </a:cubicBezTo>
                <a:lnTo>
                  <a:pt x="113489" y="226979"/>
                </a:lnTo>
                <a:cubicBezTo>
                  <a:pt x="50853" y="226979"/>
                  <a:pt x="0" y="176126"/>
                  <a:pt x="0" y="113489"/>
                </a:cubicBezTo>
                <a:lnTo>
                  <a:pt x="0" y="113489"/>
                </a:lnTo>
                <a:cubicBezTo>
                  <a:pt x="0" y="50853"/>
                  <a:pt x="50853" y="0"/>
                  <a:pt x="113489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1063490" y="2898843"/>
            <a:ext cx="559340" cy="226979"/>
          </a:xfrm>
          <a:prstGeom prst="rect">
            <a:avLst/>
          </a:prstGeom>
          <a:noFill/>
          <a:ln/>
        </p:spPr>
        <p:txBody>
          <a:bodyPr wrap="square" lIns="97277" tIns="32426" rIns="97277" bIns="32426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4290" y="3239311"/>
            <a:ext cx="511512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Ingestion &amp; ML Anomaly Detection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8375" y="3660843"/>
            <a:ext cx="5325894" cy="843064"/>
          </a:xfrm>
          <a:custGeom>
            <a:avLst/>
            <a:gdLst/>
            <a:ahLst/>
            <a:cxnLst/>
            <a:rect l="l" t="t" r="r" b="b"/>
            <a:pathLst>
              <a:path w="5325894" h="843064">
                <a:moveTo>
                  <a:pt x="32426" y="0"/>
                </a:moveTo>
                <a:lnTo>
                  <a:pt x="5261045" y="0"/>
                </a:lnTo>
                <a:cubicBezTo>
                  <a:pt x="5296860" y="0"/>
                  <a:pt x="5325894" y="29034"/>
                  <a:pt x="5325894" y="64848"/>
                </a:cubicBezTo>
                <a:lnTo>
                  <a:pt x="5325894" y="778215"/>
                </a:lnTo>
                <a:cubicBezTo>
                  <a:pt x="5325894" y="814030"/>
                  <a:pt x="5296860" y="843064"/>
                  <a:pt x="5261045" y="843064"/>
                </a:cubicBez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29"/>
                  <a:pt x="14529" y="0"/>
                  <a:pt x="324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368375" y="3660843"/>
            <a:ext cx="32426" cy="843064"/>
          </a:xfrm>
          <a:custGeom>
            <a:avLst/>
            <a:gdLst/>
            <a:ahLst/>
            <a:cxnLst/>
            <a:rect l="l" t="t" r="r" b="b"/>
            <a:pathLst>
              <a:path w="32426" h="843064">
                <a:moveTo>
                  <a:pt x="32426" y="0"/>
                </a:moveTo>
                <a:lnTo>
                  <a:pt x="32426" y="0"/>
                </a:lnTo>
                <a:lnTo>
                  <a:pt x="32426" y="843064"/>
                </a:ln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514290" y="3790545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77811" y="3790545"/>
            <a:ext cx="397213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35822" y="3839184"/>
            <a:ext cx="1969851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Conversational AI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14290" y="4179652"/>
            <a:ext cx="511512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Chat Interface: "Hey NEST, which sites are struggling?"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8375" y="4601184"/>
            <a:ext cx="5325894" cy="843064"/>
          </a:xfrm>
          <a:custGeom>
            <a:avLst/>
            <a:gdLst/>
            <a:ahLst/>
            <a:cxnLst/>
            <a:rect l="l" t="t" r="r" b="b"/>
            <a:pathLst>
              <a:path w="5325894" h="843064">
                <a:moveTo>
                  <a:pt x="32426" y="0"/>
                </a:moveTo>
                <a:lnTo>
                  <a:pt x="5261045" y="0"/>
                </a:lnTo>
                <a:cubicBezTo>
                  <a:pt x="5296860" y="0"/>
                  <a:pt x="5325894" y="29034"/>
                  <a:pt x="5325894" y="64848"/>
                </a:cubicBezTo>
                <a:lnTo>
                  <a:pt x="5325894" y="778215"/>
                </a:lnTo>
                <a:cubicBezTo>
                  <a:pt x="5325894" y="814030"/>
                  <a:pt x="5296860" y="843064"/>
                  <a:pt x="5261045" y="843064"/>
                </a:cubicBez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29"/>
                  <a:pt x="14529" y="0"/>
                  <a:pt x="324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68375" y="4601184"/>
            <a:ext cx="32426" cy="843064"/>
          </a:xfrm>
          <a:custGeom>
            <a:avLst/>
            <a:gdLst/>
            <a:ahLst/>
            <a:cxnLst/>
            <a:rect l="l" t="t" r="r" b="b"/>
            <a:pathLst>
              <a:path w="32426" h="843064">
                <a:moveTo>
                  <a:pt x="32426" y="0"/>
                </a:moveTo>
                <a:lnTo>
                  <a:pt x="32426" y="0"/>
                </a:lnTo>
                <a:lnTo>
                  <a:pt x="32426" y="843064"/>
                </a:ln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14290" y="4730886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77811" y="4730886"/>
            <a:ext cx="397213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35822" y="4779524"/>
            <a:ext cx="182393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Live Integration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14290" y="5119992"/>
            <a:ext cx="511512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integration with Veeva/Rave EDC APIs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30740" y="5755533"/>
            <a:ext cx="11532140" cy="774970"/>
          </a:xfrm>
          <a:custGeom>
            <a:avLst/>
            <a:gdLst/>
            <a:ahLst/>
            <a:cxnLst/>
            <a:rect l="l" t="t" r="r" b="b"/>
            <a:pathLst>
              <a:path w="11532140" h="774970">
                <a:moveTo>
                  <a:pt x="64850" y="0"/>
                </a:moveTo>
                <a:lnTo>
                  <a:pt x="11467291" y="0"/>
                </a:lnTo>
                <a:cubicBezTo>
                  <a:pt x="11503106" y="0"/>
                  <a:pt x="11532140" y="29034"/>
                  <a:pt x="11532140" y="64850"/>
                </a:cubicBezTo>
                <a:lnTo>
                  <a:pt x="11532140" y="710121"/>
                </a:lnTo>
                <a:cubicBezTo>
                  <a:pt x="11532140" y="745936"/>
                  <a:pt x="11503106" y="774970"/>
                  <a:pt x="11467291" y="774970"/>
                </a:cubicBezTo>
                <a:lnTo>
                  <a:pt x="64850" y="774970"/>
                </a:lnTo>
                <a:cubicBezTo>
                  <a:pt x="29058" y="774970"/>
                  <a:pt x="0" y="745912"/>
                  <a:pt x="0" y="710121"/>
                </a:cubicBezTo>
                <a:lnTo>
                  <a:pt x="0" y="64850"/>
                </a:lnTo>
                <a:cubicBezTo>
                  <a:pt x="0" y="29058"/>
                  <a:pt x="29058" y="0"/>
                  <a:pt x="64850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6928" y="5891718"/>
            <a:ext cx="911968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 2.0 is Ready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66928" y="6183448"/>
            <a:ext cx="9087255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working prototype solving real problems. </a:t>
            </a: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clinical trials is predictive, unified, and intelligent.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22277" y="5915938"/>
            <a:ext cx="834957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654702" y="6207768"/>
            <a:ext cx="77010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 Tested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467874" y="5915938"/>
            <a:ext cx="762000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500299" y="6207768"/>
            <a:ext cx="69714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Rate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40210" y="5915938"/>
            <a:ext cx="543128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72635" y="6207768"/>
            <a:ext cx="478277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PII Leaks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761305-1688-9F99-20AD-7A27EC46B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8764"/>
            <a:ext cx="11277600" cy="5300471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F320D785-DFA2-9FB0-79BB-A65931FE0F25}"/>
              </a:ext>
            </a:extLst>
          </p:cNvPr>
          <p:cNvSpPr/>
          <p:nvPr/>
        </p:nvSpPr>
        <p:spPr>
          <a:xfrm>
            <a:off x="324255" y="324255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5C4B122-1EA7-5044-F4A0-13C0170C17B1}"/>
              </a:ext>
            </a:extLst>
          </p:cNvPr>
          <p:cNvSpPr/>
          <p:nvPr/>
        </p:nvSpPr>
        <p:spPr>
          <a:xfrm>
            <a:off x="287777" y="324255"/>
            <a:ext cx="3323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2D0EA61-9068-B886-2940-42E0EEA47B31}"/>
              </a:ext>
            </a:extLst>
          </p:cNvPr>
          <p:cNvSpPr/>
          <p:nvPr/>
        </p:nvSpPr>
        <p:spPr>
          <a:xfrm>
            <a:off x="680936" y="622411"/>
            <a:ext cx="9087255" cy="32426"/>
          </a:xfrm>
          <a:custGeom>
            <a:avLst/>
            <a:gdLst/>
            <a:ahLst/>
            <a:cxnLst/>
            <a:rect l="l" t="t" r="r" b="b"/>
            <a:pathLst>
              <a:path w="9087255" h="32426">
                <a:moveTo>
                  <a:pt x="0" y="0"/>
                </a:moveTo>
                <a:lnTo>
                  <a:pt x="9087255" y="0"/>
                </a:lnTo>
                <a:lnTo>
                  <a:pt x="9087255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6EF0A7-2796-6BDA-2435-7ACD2F4666A1}"/>
              </a:ext>
            </a:extLst>
          </p:cNvPr>
          <p:cNvSpPr txBox="1"/>
          <p:nvPr/>
        </p:nvSpPr>
        <p:spPr>
          <a:xfrm>
            <a:off x="656617" y="28550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App Preview </a:t>
            </a:r>
            <a:r>
              <a:rPr lang="en-US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https://uciplatform.streamlit.app/</a:t>
            </a:r>
            <a:endParaRPr lang="en-US" sz="1400" dirty="0">
              <a:solidFill>
                <a:srgbClr val="FFFF00"/>
              </a:solidFill>
            </a:endParaRPr>
          </a:p>
        </p:txBody>
      </p:sp>
      <p:pic>
        <p:nvPicPr>
          <p:cNvPr id="17" name="Image 0" descr="&#10;">
            <a:extLst>
              <a:ext uri="{FF2B5EF4-FFF2-40B4-BE49-F238E27FC236}">
                <a16:creationId xmlns:a16="http://schemas.microsoft.com/office/drawing/2014/main" id="{116ACDDE-A64F-9D63-36CC-ACB077C4CA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36491" b="36491"/>
          <a:stretch/>
        </p:blipFill>
        <p:spPr>
          <a:xfrm>
            <a:off x="1546" y="6077587"/>
            <a:ext cx="12192000" cy="779620"/>
          </a:xfrm>
          <a:prstGeom prst="roundRect">
            <a:avLst>
              <a:gd name="adj" fmla="val 0"/>
            </a:avLst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0988B50-C7D4-CE11-DA01-C3B0D22278DB}"/>
              </a:ext>
            </a:extLst>
          </p:cNvPr>
          <p:cNvSpPr txBox="1"/>
          <p:nvPr/>
        </p:nvSpPr>
        <p:spPr>
          <a:xfrm>
            <a:off x="4207786" y="6380963"/>
            <a:ext cx="798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GitHub 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https://github.com/25CD3014/Unified-Clinical-Intelligence-Platform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597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C4DCB-BF70-78E0-0912-6E85B3777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4667"/>
            <a:ext cx="11277600" cy="5328666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134BA5D7-2AD6-0768-3E3C-A9F439FA000B}"/>
              </a:ext>
            </a:extLst>
          </p:cNvPr>
          <p:cNvSpPr/>
          <p:nvPr/>
        </p:nvSpPr>
        <p:spPr>
          <a:xfrm>
            <a:off x="324255" y="324255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711ADD2-2F81-EB4E-4613-1DFDA12DC843}"/>
              </a:ext>
            </a:extLst>
          </p:cNvPr>
          <p:cNvSpPr/>
          <p:nvPr/>
        </p:nvSpPr>
        <p:spPr>
          <a:xfrm>
            <a:off x="287777" y="324255"/>
            <a:ext cx="3323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1D21"/>
                </a:solidFill>
                <a:latin typeface="Quattrocento Sans" pitchFamily="34" charset="0"/>
              </a:rPr>
              <a:t>10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19C7B4D-03CC-410D-8C10-2F716510E5DB}"/>
              </a:ext>
            </a:extLst>
          </p:cNvPr>
          <p:cNvSpPr/>
          <p:nvPr/>
        </p:nvSpPr>
        <p:spPr>
          <a:xfrm>
            <a:off x="680936" y="437745"/>
            <a:ext cx="9087255" cy="32426"/>
          </a:xfrm>
          <a:custGeom>
            <a:avLst/>
            <a:gdLst/>
            <a:ahLst/>
            <a:cxnLst/>
            <a:rect l="l" t="t" r="r" b="b"/>
            <a:pathLst>
              <a:path w="9087255" h="32426">
                <a:moveTo>
                  <a:pt x="0" y="0"/>
                </a:moveTo>
                <a:lnTo>
                  <a:pt x="9087255" y="0"/>
                </a:lnTo>
                <a:lnTo>
                  <a:pt x="9087255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40F11C-9F7D-3262-ED0B-1FC6D18C6D6A}"/>
              </a:ext>
            </a:extLst>
          </p:cNvPr>
          <p:cNvSpPr txBox="1"/>
          <p:nvPr/>
        </p:nvSpPr>
        <p:spPr>
          <a:xfrm>
            <a:off x="620139" y="2143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App Preview </a:t>
            </a:r>
            <a:r>
              <a:rPr lang="en-US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https://uciplatform.streamlit.app/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C116E2-3BF3-1AEB-9B12-8A787295F639}"/>
              </a:ext>
            </a:extLst>
          </p:cNvPr>
          <p:cNvSpPr txBox="1"/>
          <p:nvPr/>
        </p:nvSpPr>
        <p:spPr>
          <a:xfrm>
            <a:off x="4206240" y="6420255"/>
            <a:ext cx="798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GitHub 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https://github.com/25CD3014/Unified-Clinical-Intelligence-Platform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4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0948F5-7D8B-76E3-5E8A-5F88B7FAD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49249"/>
            <a:ext cx="11277600" cy="5159502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3597EC17-3C8F-7DCB-3A34-30446A4575A2}"/>
              </a:ext>
            </a:extLst>
          </p:cNvPr>
          <p:cNvSpPr/>
          <p:nvPr/>
        </p:nvSpPr>
        <p:spPr>
          <a:xfrm>
            <a:off x="324255" y="324255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7B1E443-280C-262C-B659-A93D5DF8850C}"/>
              </a:ext>
            </a:extLst>
          </p:cNvPr>
          <p:cNvSpPr/>
          <p:nvPr/>
        </p:nvSpPr>
        <p:spPr>
          <a:xfrm>
            <a:off x="287777" y="324255"/>
            <a:ext cx="3323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1D21"/>
                </a:solidFill>
                <a:latin typeface="Quattrocento Sans" pitchFamily="34" charset="0"/>
              </a:rPr>
              <a:t>11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188726B-38C6-84E9-BA61-85855DD19382}"/>
              </a:ext>
            </a:extLst>
          </p:cNvPr>
          <p:cNvSpPr/>
          <p:nvPr/>
        </p:nvSpPr>
        <p:spPr>
          <a:xfrm>
            <a:off x="680936" y="437745"/>
            <a:ext cx="9087255" cy="32426"/>
          </a:xfrm>
          <a:custGeom>
            <a:avLst/>
            <a:gdLst/>
            <a:ahLst/>
            <a:cxnLst/>
            <a:rect l="l" t="t" r="r" b="b"/>
            <a:pathLst>
              <a:path w="9087255" h="32426">
                <a:moveTo>
                  <a:pt x="0" y="0"/>
                </a:moveTo>
                <a:lnTo>
                  <a:pt x="9087255" y="0"/>
                </a:lnTo>
                <a:lnTo>
                  <a:pt x="9087255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7D1771-5661-3AC9-BAEE-FEBEA92F91B4}"/>
              </a:ext>
            </a:extLst>
          </p:cNvPr>
          <p:cNvSpPr txBox="1"/>
          <p:nvPr/>
        </p:nvSpPr>
        <p:spPr>
          <a:xfrm>
            <a:off x="644456" y="2530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App Preview </a:t>
            </a:r>
            <a:r>
              <a:rPr lang="en-US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https://uciplatform.streamlit.app/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010C33-B2DC-F192-6C36-EE0B5E0C62D5}"/>
              </a:ext>
            </a:extLst>
          </p:cNvPr>
          <p:cNvSpPr txBox="1"/>
          <p:nvPr/>
        </p:nvSpPr>
        <p:spPr>
          <a:xfrm>
            <a:off x="4206240" y="6420255"/>
            <a:ext cx="798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GitHub 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https://github.com/25CD3014/Unified-Clinical-Intelligence-Platform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52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40e8bf0b0eb4c40f60a5f66b1b99a268bf43c1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5407462" y="388620"/>
            <a:ext cx="1377315" cy="510540"/>
          </a:xfrm>
          <a:custGeom>
            <a:avLst/>
            <a:gdLst/>
            <a:ahLst/>
            <a:cxnLst/>
            <a:rect l="l" t="t" r="r" b="b"/>
            <a:pathLst>
              <a:path w="1377315" h="510540">
                <a:moveTo>
                  <a:pt x="255270" y="0"/>
                </a:moveTo>
                <a:lnTo>
                  <a:pt x="1122045" y="0"/>
                </a:lnTo>
                <a:cubicBezTo>
                  <a:pt x="1263027" y="0"/>
                  <a:pt x="1377315" y="114288"/>
                  <a:pt x="1377315" y="255270"/>
                </a:cubicBezTo>
                <a:lnTo>
                  <a:pt x="1377315" y="255270"/>
                </a:lnTo>
                <a:cubicBezTo>
                  <a:pt x="1377315" y="396252"/>
                  <a:pt x="1263027" y="510540"/>
                  <a:pt x="1122045" y="510540"/>
                </a:cubicBezTo>
                <a:lnTo>
                  <a:pt x="255270" y="510540"/>
                </a:lnTo>
                <a:cubicBezTo>
                  <a:pt x="114383" y="510540"/>
                  <a:pt x="0" y="396157"/>
                  <a:pt x="0" y="255270"/>
                </a:cubicBezTo>
                <a:lnTo>
                  <a:pt x="0" y="255270"/>
                </a:lnTo>
                <a:cubicBezTo>
                  <a:pt x="0" y="114383"/>
                  <a:pt x="114383" y="0"/>
                  <a:pt x="255270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596057" y="510541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15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9550" y="1211582"/>
            <a:ext cx="11772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Clinical Intelligence,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Redefined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67200" y="2887987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757363" y="3202312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clinical trials is </a:t>
            </a:r>
            <a:r>
              <a:rPr lang="en-US" sz="2250" b="1" dirty="0">
                <a:solidFill>
                  <a:srgbClr val="F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predictive, unified, and intelligent</a:t>
            </a:r>
            <a:r>
              <a:rPr lang="en-US" sz="225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1223010" y="4051465"/>
            <a:ext cx="3036570" cy="2065020"/>
          </a:xfrm>
          <a:custGeom>
            <a:avLst/>
            <a:gdLst/>
            <a:ahLst/>
            <a:cxnLst/>
            <a:rect l="l" t="t" r="r" b="b"/>
            <a:pathLst>
              <a:path w="3036570" h="2065020">
                <a:moveTo>
                  <a:pt x="76199" y="0"/>
                </a:moveTo>
                <a:lnTo>
                  <a:pt x="2960371" y="0"/>
                </a:lnTo>
                <a:cubicBezTo>
                  <a:pt x="3002454" y="0"/>
                  <a:pt x="3036570" y="34116"/>
                  <a:pt x="3036570" y="76199"/>
                </a:cubicBezTo>
                <a:lnTo>
                  <a:pt x="3036570" y="1988821"/>
                </a:lnTo>
                <a:cubicBezTo>
                  <a:pt x="3036570" y="2030904"/>
                  <a:pt x="3002454" y="2065020"/>
                  <a:pt x="2960371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38400" y="42838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628900" y="4474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398270" y="5045873"/>
            <a:ext cx="2686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5426752"/>
            <a:ext cx="2647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pipelines that learn and adapt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5810" y="4051465"/>
            <a:ext cx="3036570" cy="2065020"/>
          </a:xfrm>
          <a:custGeom>
            <a:avLst/>
            <a:gdLst/>
            <a:ahLst/>
            <a:cxnLst/>
            <a:rect l="l" t="t" r="r" b="b"/>
            <a:pathLst>
              <a:path w="3036570" h="2065020">
                <a:moveTo>
                  <a:pt x="76199" y="0"/>
                </a:moveTo>
                <a:lnTo>
                  <a:pt x="2960371" y="0"/>
                </a:lnTo>
                <a:cubicBezTo>
                  <a:pt x="3002454" y="0"/>
                  <a:pt x="3036570" y="34116"/>
                  <a:pt x="3036570" y="76199"/>
                </a:cubicBezTo>
                <a:lnTo>
                  <a:pt x="3036570" y="1988821"/>
                </a:lnTo>
                <a:cubicBezTo>
                  <a:pt x="3036570" y="2030904"/>
                  <a:pt x="3002454" y="2065020"/>
                  <a:pt x="2960371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10160">
            <a:solidFill>
              <a:srgbClr val="B88A5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791200" y="42838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981700" y="4474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51070" y="5045873"/>
            <a:ext cx="2686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Intelligence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770120" y="5426752"/>
            <a:ext cx="2647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Portfolio-wide learning and pattern discovery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928610" y="4051465"/>
            <a:ext cx="3036570" cy="2065020"/>
          </a:xfrm>
          <a:custGeom>
            <a:avLst/>
            <a:gdLst/>
            <a:ahLst/>
            <a:cxnLst/>
            <a:rect l="l" t="t" r="r" b="b"/>
            <a:pathLst>
              <a:path w="3036570" h="2065020">
                <a:moveTo>
                  <a:pt x="76199" y="0"/>
                </a:moveTo>
                <a:lnTo>
                  <a:pt x="2960371" y="0"/>
                </a:lnTo>
                <a:cubicBezTo>
                  <a:pt x="3002454" y="0"/>
                  <a:pt x="3036570" y="34116"/>
                  <a:pt x="3036570" y="76199"/>
                </a:cubicBezTo>
                <a:lnTo>
                  <a:pt x="3036570" y="1988821"/>
                </a:lnTo>
                <a:cubicBezTo>
                  <a:pt x="3036570" y="2030904"/>
                  <a:pt x="3002454" y="2065020"/>
                  <a:pt x="2960371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 w="10160">
            <a:solidFill>
              <a:srgbClr val="7D8A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9144000" y="42838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9334500" y="4474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103870" y="5045873"/>
            <a:ext cx="2686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Safety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22920" y="5426752"/>
            <a:ext cx="2647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 risks before they become problems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23850" y="6120171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38138" y="650105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0</TotalTime>
  <Words>1476</Words>
  <Application>Microsoft Office PowerPoint</Application>
  <PresentationFormat>Widescreen</PresentationFormat>
  <Paragraphs>260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Liter</vt:lpstr>
      <vt:lpstr>Hedvig Letters Sans</vt:lpstr>
      <vt:lpstr>Arial</vt:lpstr>
      <vt:lpstr>Century Gothic</vt:lpstr>
      <vt:lpstr>Quattrocento Sans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 2.0: Unified Clinical Intelligence Platform</dc:title>
  <dc:subject>NEST 2.0: Unified Clinical Intelligence Platform</dc:subject>
  <dc:creator>Kimi</dc:creator>
  <cp:lastModifiedBy>Karan Sharma</cp:lastModifiedBy>
  <cp:revision>1</cp:revision>
  <dcterms:created xsi:type="dcterms:W3CDTF">2026-01-08T06:30:10Z</dcterms:created>
  <dcterms:modified xsi:type="dcterms:W3CDTF">2026-01-08T14:15:29Z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{"Label":"NEST 2.0: Unified Clinical Intelligence Platform","ContentProducer":"001191110108MACG2KBH8F10000","ProduceID":"19b9c4b6-b452-8d7a-8000-00004f77d824","ReservedCode1":"","ContentPropagator":"001191110108MACG2KBH8F20000","PropagateID":"19b9c4b6-b452-8d7a-8000-00004f77d824","ReservedCode2":""}</vt:lpwstr>
  </property>
</Properties>
</file>